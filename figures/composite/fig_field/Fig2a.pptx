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</p:sldIdLst>
  <p:sldSz cx="6587490" cy="266382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91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914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5" name="TextBox 64"/>
          <p:cNvSpPr txBox="1"/>
          <p:nvPr/>
        </p:nvSpPr>
        <p:spPr>
          <a:xfrm>
            <a:off x="208870" y="1962345"/>
            <a:ext cx="576000" cy="115200"/>
          </a:xfrm>
          <a:prstGeom prst="rect">
            <a:avLst/>
          </a:prstGeom>
          <a:noFill/>
        </p:spPr>
        <p:txBody>
          <a:bodyPr wrap="square" lIns="14400" tIns="3600" rIns="14400" bIns="3600" anchor="ctr">
            <a:spAutoFit/>
          </a:bodyPr>
          <a:lstStyle/>
          <a:p>
            <a:pPr algn="ctr"/>
            <a:r>
              <a:rPr sz="600" b="1" i="0">
                <a:solidFill>
                  <a:srgbClr val="1B1B1B"/>
                </a:solidFill>
                <a:latin typeface="Arial" panose="020B0604020202020204"/>
              </a:rPr>
              <a:t>~1 nm</a:t>
            </a:r>
            <a:endParaRPr sz="600" b="1" i="0">
              <a:solidFill>
                <a:srgbClr val="1B1B1B"/>
              </a:solidFill>
              <a:latin typeface="Arial" panose="020B0604020202020204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1386000" y="54000"/>
            <a:ext cx="3762000" cy="720000"/>
          </a:xfrm>
          <a:prstGeom prst="roundRect">
            <a:avLst>
              <a:gd name="adj" fmla="val 6000"/>
            </a:avLst>
          </a:prstGeom>
          <a:noFill/>
          <a:ln w="7620">
            <a:solidFill>
              <a:srgbClr val="8C929C"/>
            </a:solidFill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E3E7F0"/>
                </a:solidFill>
              </a14:hiddenFill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90170" y="953770"/>
            <a:ext cx="6407785" cy="1497965"/>
          </a:xfrm>
          <a:prstGeom prst="roundRect">
            <a:avLst>
              <a:gd name="adj" fmla="val 4000"/>
            </a:avLst>
          </a:prstGeom>
          <a:noFill/>
          <a:ln w="7620">
            <a:solidFill>
              <a:srgbClr val="8C929C"/>
            </a:solidFill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4F5F7"/>
                </a:solidFill>
              </a14:hiddenFill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" name="Rounded Rectangle 1"/>
          <p:cNvSpPr/>
          <p:nvPr/>
        </p:nvSpPr>
        <p:spPr>
          <a:xfrm>
            <a:off x="90000" y="90000"/>
            <a:ext cx="1116000" cy="6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8C9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thumb_paper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600" y="169200"/>
            <a:ext cx="413050" cy="489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0000" y="133200"/>
            <a:ext cx="648000" cy="162000"/>
          </a:xfrm>
          <a:prstGeom prst="rect">
            <a:avLst/>
          </a:prstGeom>
          <a:noFill/>
        </p:spPr>
        <p:txBody>
          <a:bodyPr wrap="square" lIns="14400" tIns="3600" rIns="14400" bIns="3600" anchor="ctr">
            <a:spAutoFit/>
          </a:bodyPr>
          <a:lstStyle/>
          <a:p>
            <a:pPr algn="l"/>
            <a:r>
              <a:rPr sz="700" b="1" i="0">
                <a:solidFill>
                  <a:srgbClr val="1B1B1B"/>
                </a:solidFill>
                <a:latin typeface="Arial" panose="020B0604020202020204"/>
              </a:rPr>
              <a:t>Literature</a:t>
            </a:r>
            <a:endParaRPr sz="700" b="1" i="0">
              <a:solidFill>
                <a:srgbClr val="1B1B1B"/>
              </a:solidFill>
              <a:latin typeface="Arial" panose="020B060402020202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0000" y="306000"/>
            <a:ext cx="648000" cy="378000"/>
          </a:xfrm>
          <a:prstGeom prst="rect">
            <a:avLst/>
          </a:prstGeom>
          <a:noFill/>
        </p:spPr>
        <p:txBody>
          <a:bodyPr wrap="square" lIns="14400" tIns="3600" rIns="14400" bIns="3600" anchor="t">
            <a:spAutoFit/>
          </a:bodyPr>
          <a:lstStyle/>
          <a:p>
            <a:pPr algn="l"/>
            <a:r>
              <a:rPr sz="560" b="0" i="0">
                <a:solidFill>
                  <a:srgbClr val="1B1B1B"/>
                </a:solidFill>
                <a:latin typeface="Arial" panose="020B0604020202020204"/>
              </a:rPr>
              <a:t>papers and SI:</a:t>
            </a:r>
            <a:endParaRPr sz="560" b="0" i="0">
              <a:solidFill>
                <a:srgbClr val="1B1B1B"/>
              </a:solidFill>
              <a:latin typeface="Arial" panose="020B0604020202020204"/>
            </a:endParaRPr>
          </a:p>
          <a:p>
            <a:pPr algn="l"/>
            <a:r>
              <a:rPr sz="560" b="0" i="0">
                <a:solidFill>
                  <a:srgbClr val="1B1B1B"/>
                </a:solidFill>
                <a:latin typeface="Arial" panose="020B0604020202020204"/>
              </a:rPr>
              <a:t>90 methanol</a:t>
            </a:r>
            <a:endParaRPr sz="560" b="0" i="0">
              <a:solidFill>
                <a:srgbClr val="1B1B1B"/>
              </a:solidFill>
              <a:latin typeface="Arial" panose="020B0604020202020204"/>
            </a:endParaRPr>
          </a:p>
          <a:p>
            <a:pPr algn="l"/>
            <a:r>
              <a:rPr sz="560" b="0" i="0">
                <a:solidFill>
                  <a:srgbClr val="1B1B1B"/>
                </a:solidFill>
                <a:latin typeface="Arial" panose="020B0604020202020204"/>
              </a:rPr>
              <a:t>52 ammonia</a:t>
            </a:r>
            <a:endParaRPr sz="560" b="0" i="0">
              <a:solidFill>
                <a:srgbClr val="1B1B1B"/>
              </a:solidFill>
              <a:latin typeface="Arial" panose="020B060402020202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440000" y="68400"/>
            <a:ext cx="432000" cy="151200"/>
          </a:xfrm>
          <a:prstGeom prst="rect">
            <a:avLst/>
          </a:prstGeom>
          <a:noFill/>
        </p:spPr>
        <p:txBody>
          <a:bodyPr wrap="square" lIns="14400" tIns="3600" rIns="14400" bIns="3600" anchor="ctr">
            <a:spAutoFit/>
          </a:bodyPr>
          <a:lstStyle/>
          <a:p>
            <a:pPr algn="l"/>
            <a:r>
              <a:rPr sz="700" b="1" i="0">
                <a:solidFill>
                  <a:srgbClr val="5A6480"/>
                </a:solidFill>
                <a:latin typeface="Arial" panose="020B0604020202020204"/>
              </a:rPr>
              <a:t>ACSA</a:t>
            </a:r>
            <a:endParaRPr sz="700" b="1" i="0">
              <a:solidFill>
                <a:srgbClr val="5A6480"/>
              </a:solidFill>
              <a:latin typeface="Arial" panose="020B0604020202020204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1602000" y="212400"/>
            <a:ext cx="1116000" cy="48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thumb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0800" y="226800"/>
            <a:ext cx="382679" cy="453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972835" y="234000"/>
            <a:ext cx="648000" cy="151200"/>
          </a:xfrm>
          <a:prstGeom prst="rect">
            <a:avLst/>
          </a:prstGeom>
          <a:noFill/>
        </p:spPr>
        <p:txBody>
          <a:bodyPr wrap="square" lIns="14400" tIns="3600" rIns="14400" bIns="3600" anchor="ctr">
            <a:spAutoFit/>
          </a:bodyPr>
          <a:lstStyle/>
          <a:p>
            <a:pPr algn="ctr"/>
            <a:r>
              <a:rPr sz="680" b="1" i="0">
                <a:solidFill>
                  <a:srgbClr val="1B1B1B"/>
                </a:solidFill>
                <a:latin typeface="Arial" panose="020B0604020202020204"/>
              </a:rPr>
              <a:t>Extract</a:t>
            </a:r>
            <a:endParaRPr sz="680" b="1" i="0">
              <a:solidFill>
                <a:srgbClr val="1B1B1B"/>
              </a:solidFill>
              <a:latin typeface="Arial" panose="020B060402020202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958230" y="399600"/>
            <a:ext cx="662400" cy="175260"/>
          </a:xfrm>
          <a:prstGeom prst="rect">
            <a:avLst/>
          </a:prstGeom>
          <a:noFill/>
        </p:spPr>
        <p:txBody>
          <a:bodyPr wrap="square" lIns="14400" tIns="3600" rIns="14400" bIns="3600" anchor="t">
            <a:spAutoFit/>
          </a:bodyPr>
          <a:lstStyle/>
          <a:p>
            <a:pPr algn="ctr"/>
            <a:r>
              <a:rPr lang="en-US" sz="550" b="0" i="0">
                <a:solidFill>
                  <a:srgbClr val="1B1B1B"/>
                </a:solidFill>
                <a:latin typeface="Arial" panose="020B0604020202020204"/>
              </a:rPr>
              <a:t>Target v</a:t>
            </a:r>
            <a:r>
              <a:rPr sz="550" b="0" i="0">
                <a:solidFill>
                  <a:srgbClr val="1B1B1B"/>
                </a:solidFill>
                <a:latin typeface="Arial" panose="020B0604020202020204"/>
              </a:rPr>
              <a:t>alue with</a:t>
            </a:r>
            <a:endParaRPr sz="550" b="0" i="0">
              <a:solidFill>
                <a:srgbClr val="1B1B1B"/>
              </a:solidFill>
              <a:latin typeface="Arial" panose="020B0604020202020204"/>
            </a:endParaRPr>
          </a:p>
          <a:p>
            <a:pPr algn="ctr"/>
            <a:r>
              <a:rPr sz="550" b="0" i="0">
                <a:solidFill>
                  <a:srgbClr val="1B1B1B"/>
                </a:solidFill>
                <a:latin typeface="Arial" panose="020B0604020202020204"/>
              </a:rPr>
              <a:t>unit and page</a:t>
            </a:r>
            <a:endParaRPr sz="550" b="0" i="0">
              <a:solidFill>
                <a:srgbClr val="1B1B1B"/>
              </a:solidFill>
              <a:latin typeface="Arial" panose="020B0604020202020204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160000" y="93600"/>
            <a:ext cx="558000" cy="100800"/>
          </a:xfrm>
          <a:prstGeom prst="roundRect">
            <a:avLst>
              <a:gd name="adj" fmla="val 30000"/>
            </a:avLst>
          </a:prstGeom>
          <a:solidFill>
            <a:srgbClr val="7789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" tIns="3600" rIns="14400" bIns="3600" rtlCol="0" anchor="ctr"/>
          <a:lstStyle/>
          <a:p>
            <a:pPr algn="ctr"/>
            <a:r>
              <a:rPr sz="480" b="0" i="0">
                <a:solidFill>
                  <a:srgbClr val="FFFFFF"/>
                </a:solidFill>
                <a:latin typeface="Arial" panose="020B0604020202020204"/>
              </a:rPr>
              <a:t>language model</a:t>
            </a:r>
            <a:endParaRPr sz="480" b="0" i="0">
              <a:solidFill>
                <a:srgbClr val="FFFFFF"/>
              </a:solidFill>
              <a:latin typeface="Arial" panose="020B0604020202020204"/>
            </a:endParaRPr>
          </a:p>
        </p:txBody>
      </p:sp>
      <p:cxnSp>
        <p:nvCxnSpPr>
          <p:cNvPr id="13" name="Connector 12"/>
          <p:cNvCxnSpPr/>
          <p:nvPr/>
        </p:nvCxnSpPr>
        <p:spPr>
          <a:xfrm>
            <a:off x="2598200" y="450000"/>
            <a:ext cx="184785" cy="0"/>
          </a:xfrm>
          <a:prstGeom prst="line">
            <a:avLst/>
          </a:prstGeom>
          <a:ln w="9525">
            <a:solidFill>
              <a:srgbClr val="3C404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790000" y="212400"/>
            <a:ext cx="1116000" cy="48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thumb_selfcheck.png"/>
          <p:cNvPicPr>
            <a:picLocks noChangeAspect="1"/>
          </p:cNvPicPr>
          <p:nvPr/>
        </p:nvPicPr>
        <p:blipFill>
          <a:blip r:embed="rId3"/>
          <a:srcRect t="16938"/>
          <a:stretch>
            <a:fillRect/>
          </a:stretch>
        </p:blipFill>
        <p:spPr>
          <a:xfrm>
            <a:off x="2818800" y="303631"/>
            <a:ext cx="382679" cy="3767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236400" y="234000"/>
            <a:ext cx="648000" cy="151200"/>
          </a:xfrm>
          <a:prstGeom prst="rect">
            <a:avLst/>
          </a:prstGeom>
          <a:noFill/>
        </p:spPr>
        <p:txBody>
          <a:bodyPr wrap="square" lIns="14400" tIns="3600" rIns="14400" bIns="3600" anchor="ctr">
            <a:spAutoFit/>
          </a:bodyPr>
          <a:lstStyle/>
          <a:p>
            <a:pPr algn="ctr"/>
            <a:r>
              <a:rPr sz="680" b="1" i="0">
                <a:solidFill>
                  <a:srgbClr val="1B1B1B"/>
                </a:solidFill>
                <a:latin typeface="Arial" panose="020B0604020202020204"/>
              </a:rPr>
              <a:t>Self-check</a:t>
            </a:r>
            <a:endParaRPr sz="680" b="1" i="0">
              <a:solidFill>
                <a:srgbClr val="1B1B1B"/>
              </a:solidFill>
              <a:latin typeface="Arial" panose="020B060402020202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176075" y="399600"/>
            <a:ext cx="662400" cy="270000"/>
          </a:xfrm>
          <a:prstGeom prst="rect">
            <a:avLst/>
          </a:prstGeom>
          <a:noFill/>
        </p:spPr>
        <p:txBody>
          <a:bodyPr wrap="square" lIns="14400" tIns="3600" rIns="14400" bIns="3600" anchor="t">
            <a:spAutoFit/>
          </a:bodyPr>
          <a:lstStyle/>
          <a:p>
            <a:pPr algn="ctr"/>
            <a:r>
              <a:rPr sz="550" b="0" i="0">
                <a:solidFill>
                  <a:srgbClr val="1B1B1B"/>
                </a:solidFill>
                <a:latin typeface="Arial" panose="020B0604020202020204"/>
              </a:rPr>
              <a:t>hand-built results</a:t>
            </a:r>
            <a:endParaRPr sz="550" b="0" i="0">
              <a:solidFill>
                <a:srgbClr val="1B1B1B"/>
              </a:solidFill>
              <a:latin typeface="Arial" panose="020B0604020202020204"/>
            </a:endParaRPr>
          </a:p>
          <a:p>
            <a:pPr algn="ctr"/>
            <a:r>
              <a:rPr sz="550" b="0" i="0">
                <a:solidFill>
                  <a:srgbClr val="1B1B1B"/>
                </a:solidFill>
                <a:latin typeface="Arial" panose="020B0604020202020204"/>
              </a:rPr>
              <a:t>reproduced first</a:t>
            </a:r>
            <a:endParaRPr sz="550" b="0" i="0">
              <a:solidFill>
                <a:srgbClr val="1B1B1B"/>
              </a:solidFill>
              <a:latin typeface="Arial" panose="020B0604020202020204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3618000" y="93600"/>
            <a:ext cx="288000" cy="100800"/>
          </a:xfrm>
          <a:prstGeom prst="roundRect">
            <a:avLst>
              <a:gd name="adj" fmla="val 30000"/>
            </a:avLst>
          </a:prstGeom>
          <a:solidFill>
            <a:srgbClr val="5E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" tIns="3600" rIns="14400" bIns="3600" rtlCol="0" anchor="ctr"/>
          <a:lstStyle/>
          <a:p>
            <a:pPr algn="ctr"/>
            <a:r>
              <a:rPr sz="480" b="0" i="0">
                <a:solidFill>
                  <a:srgbClr val="FFFFFF"/>
                </a:solidFill>
                <a:latin typeface="Arial" panose="020B0604020202020204"/>
              </a:rPr>
              <a:t>code</a:t>
            </a:r>
            <a:endParaRPr sz="480" b="0" i="0">
              <a:solidFill>
                <a:srgbClr val="FFFFFF"/>
              </a:solidFill>
              <a:latin typeface="Arial" panose="020B0604020202020204"/>
            </a:endParaRPr>
          </a:p>
        </p:txBody>
      </p:sp>
      <p:cxnSp>
        <p:nvCxnSpPr>
          <p:cNvPr id="19" name="Connector 18"/>
          <p:cNvCxnSpPr/>
          <p:nvPr/>
        </p:nvCxnSpPr>
        <p:spPr>
          <a:xfrm>
            <a:off x="3798265" y="450000"/>
            <a:ext cx="172720" cy="0"/>
          </a:xfrm>
          <a:prstGeom prst="line">
            <a:avLst/>
          </a:prstGeom>
          <a:ln w="9525">
            <a:solidFill>
              <a:srgbClr val="3C404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3978000" y="212400"/>
            <a:ext cx="1116000" cy="48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thumb_b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6800" y="226800"/>
            <a:ext cx="382679" cy="4536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424400" y="234000"/>
            <a:ext cx="648000" cy="151200"/>
          </a:xfrm>
          <a:prstGeom prst="rect">
            <a:avLst/>
          </a:prstGeom>
          <a:noFill/>
        </p:spPr>
        <p:txBody>
          <a:bodyPr wrap="square" lIns="14400" tIns="3600" rIns="14400" bIns="3600" anchor="ctr">
            <a:spAutoFit/>
          </a:bodyPr>
          <a:lstStyle/>
          <a:p>
            <a:pPr algn="ctr"/>
            <a:r>
              <a:rPr sz="680" b="1" i="0">
                <a:solidFill>
                  <a:srgbClr val="1B1B1B"/>
                </a:solidFill>
                <a:latin typeface="Arial" panose="020B0604020202020204"/>
              </a:rPr>
              <a:t>Bound</a:t>
            </a:r>
            <a:endParaRPr sz="680" b="1" i="0">
              <a:solidFill>
                <a:srgbClr val="1B1B1B"/>
              </a:solidFill>
              <a:latin typeface="Arial" panose="020B060402020202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409795" y="399600"/>
            <a:ext cx="662400" cy="270000"/>
          </a:xfrm>
          <a:prstGeom prst="rect">
            <a:avLst/>
          </a:prstGeom>
          <a:noFill/>
        </p:spPr>
        <p:txBody>
          <a:bodyPr wrap="square" lIns="14400" tIns="3600" rIns="14400" bIns="3600" anchor="t">
            <a:spAutoFit/>
          </a:bodyPr>
          <a:lstStyle/>
          <a:p>
            <a:pPr algn="ctr"/>
            <a:r>
              <a:rPr sz="550" b="0" i="0">
                <a:solidFill>
                  <a:srgbClr val="1B1B1B"/>
                </a:solidFill>
                <a:latin typeface="Arial" panose="020B0604020202020204"/>
              </a:rPr>
              <a:t>full optimization</a:t>
            </a:r>
            <a:endParaRPr sz="550" b="0" i="0">
              <a:solidFill>
                <a:srgbClr val="1B1B1B"/>
              </a:solidFill>
              <a:latin typeface="Arial" panose="020B0604020202020204"/>
            </a:endParaRPr>
          </a:p>
          <a:p>
            <a:pPr algn="ctr"/>
            <a:r>
              <a:rPr sz="550" b="0" i="0">
                <a:solidFill>
                  <a:srgbClr val="1B1B1B"/>
                </a:solidFill>
                <a:latin typeface="Arial" panose="020B0604020202020204"/>
              </a:rPr>
              <a:t>only where needed</a:t>
            </a:r>
            <a:endParaRPr sz="550" b="0" i="0">
              <a:solidFill>
                <a:srgbClr val="1B1B1B"/>
              </a:solidFill>
              <a:latin typeface="Arial" panose="020B0604020202020204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4806000" y="93600"/>
            <a:ext cx="288000" cy="100800"/>
          </a:xfrm>
          <a:prstGeom prst="roundRect">
            <a:avLst>
              <a:gd name="adj" fmla="val 30000"/>
            </a:avLst>
          </a:prstGeom>
          <a:solidFill>
            <a:srgbClr val="5E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" tIns="3600" rIns="14400" bIns="3600" rtlCol="0" anchor="ctr"/>
          <a:lstStyle/>
          <a:p>
            <a:pPr algn="ctr"/>
            <a:r>
              <a:rPr sz="480" b="0" i="0">
                <a:solidFill>
                  <a:srgbClr val="FFFFFF"/>
                </a:solidFill>
                <a:latin typeface="Arial" panose="020B0604020202020204"/>
              </a:rPr>
              <a:t>code</a:t>
            </a:r>
            <a:endParaRPr sz="480" b="0" i="0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5258435" y="90170"/>
            <a:ext cx="1239520" cy="647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8C9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thumb_bum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1305" y="169200"/>
            <a:ext cx="413050" cy="4896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796000" y="157368"/>
            <a:ext cx="702000" cy="113665"/>
          </a:xfrm>
          <a:prstGeom prst="rect">
            <a:avLst/>
          </a:prstGeom>
          <a:noFill/>
        </p:spPr>
        <p:txBody>
          <a:bodyPr wrap="square" lIns="14400" tIns="3600" rIns="14400" bIns="3600" anchor="ctr">
            <a:spAutoFit/>
          </a:bodyPr>
          <a:lstStyle/>
          <a:p>
            <a:pPr algn="l"/>
            <a:r>
              <a:rPr sz="700" b="1" i="0">
                <a:solidFill>
                  <a:srgbClr val="1B1B1B"/>
                </a:solidFill>
                <a:latin typeface="Arial" panose="020B0604020202020204"/>
              </a:rPr>
              <a:t>Leaderboards</a:t>
            </a:r>
            <a:r>
              <a:rPr lang="en-US" sz="700" b="1" i="0">
                <a:solidFill>
                  <a:srgbClr val="1B1B1B"/>
                </a:solidFill>
                <a:latin typeface="Arial" panose="020B0604020202020204"/>
              </a:rPr>
              <a:t/>
            </a:r>
            <a:r>
              <a:rPr sz="700" b="1" i="0">
                <a:solidFill>
                  <a:srgbClr val="1B1B1B"/>
                </a:solidFill>
                <a:latin typeface="Arial" panose="020B0604020202020204"/>
              </a:rPr>
              <a:t/>
            </a:r>
            <a:endParaRPr sz="700" b="1" i="0">
              <a:solidFill>
                <a:srgbClr val="1B1B1B"/>
              </a:solidFill>
              <a:latin typeface="Arial" panose="020B0604020202020204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760085" y="385445"/>
            <a:ext cx="864870" cy="177800"/>
          </a:xfrm>
          <a:prstGeom prst="rect">
            <a:avLst/>
          </a:prstGeom>
          <a:noFill/>
        </p:spPr>
        <p:txBody>
          <a:bodyPr wrap="square" lIns="14400" tIns="3600" rIns="14400" bIns="3600" anchor="t">
            <a:spAutoFit/>
          </a:bodyPr>
          <a:lstStyle/>
          <a:p>
            <a:pPr algn="l"/>
            <a:r>
              <a:rPr sz="560" b="0" i="0">
                <a:solidFill>
                  <a:srgbClr val="1B1B1B"/>
                </a:solidFill>
                <a:latin typeface="Arial" panose="020B0604020202020204"/>
              </a:rPr>
              <a:t>laboratory leader</a:t>
            </a:r>
            <a:endParaRPr sz="560" b="0" i="0">
              <a:solidFill>
                <a:srgbClr val="1B1B1B"/>
              </a:solidFill>
              <a:latin typeface="Arial" panose="020B0604020202020204"/>
            </a:endParaRPr>
          </a:p>
          <a:p>
            <a:pPr algn="l"/>
            <a:r>
              <a:rPr sz="560" b="1" i="0">
                <a:solidFill>
                  <a:srgbClr val="1B1B1B"/>
                </a:solidFill>
                <a:latin typeface="Arial" panose="020B0604020202020204"/>
              </a:rPr>
              <a:t>vs</a:t>
            </a:r>
            <a:r>
              <a:rPr sz="560" b="0" i="0">
                <a:solidFill>
                  <a:srgbClr val="1B1B1B"/>
                </a:solidFill>
                <a:latin typeface="Arial" panose="020B0604020202020204"/>
              </a:rPr>
              <a:t> plant-cost</a:t>
            </a:r>
            <a:r>
              <a:rPr lang="en-US" sz="560" b="0" i="0">
                <a:solidFill>
                  <a:srgbClr val="1B1B1B"/>
                </a:solidFill>
                <a:latin typeface="Arial" panose="020B0604020202020204"/>
              </a:rPr>
              <a:t> </a:t>
            </a:r>
            <a:r>
              <a:rPr sz="560" b="0" i="0">
                <a:solidFill>
                  <a:srgbClr val="1B1B1B"/>
                </a:solidFill>
                <a:latin typeface="Arial" panose="020B0604020202020204"/>
              </a:rPr>
              <a:t>leader</a:t>
            </a:r>
            <a:endParaRPr sz="560" b="0" i="0">
              <a:solidFill>
                <a:srgbClr val="1B1B1B"/>
              </a:solidFill>
              <a:latin typeface="Arial" panose="020B0604020202020204"/>
            </a:endParaRPr>
          </a:p>
        </p:txBody>
      </p:sp>
      <p:cxnSp>
        <p:nvCxnSpPr>
          <p:cNvPr id="29" name="Connector 28"/>
          <p:cNvCxnSpPr/>
          <p:nvPr/>
        </p:nvCxnSpPr>
        <p:spPr>
          <a:xfrm>
            <a:off x="1209600" y="414000"/>
            <a:ext cx="172800" cy="0"/>
          </a:xfrm>
          <a:prstGeom prst="line">
            <a:avLst/>
          </a:prstGeom>
          <a:ln w="9525">
            <a:solidFill>
              <a:srgbClr val="3C404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872000" y="777600"/>
            <a:ext cx="0" cy="169200"/>
          </a:xfrm>
          <a:prstGeom prst="line">
            <a:avLst/>
          </a:prstGeom>
          <a:ln w="9525">
            <a:solidFill>
              <a:srgbClr val="3C404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5922000" y="741600"/>
            <a:ext cx="0" cy="205200"/>
          </a:xfrm>
          <a:prstGeom prst="line">
            <a:avLst/>
          </a:prstGeom>
          <a:ln w="9525">
            <a:solidFill>
              <a:srgbClr val="3C404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4176000" y="1674000"/>
            <a:ext cx="864000" cy="0"/>
          </a:xfrm>
          <a:prstGeom prst="line">
            <a:avLst/>
          </a:prstGeom>
          <a:ln w="25400">
            <a:solidFill>
              <a:srgbClr val="3C404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175760" y="1713230"/>
            <a:ext cx="828040" cy="198120"/>
          </a:xfrm>
          <a:prstGeom prst="rect">
            <a:avLst/>
          </a:prstGeom>
          <a:noFill/>
        </p:spPr>
        <p:txBody>
          <a:bodyPr wrap="square" lIns="14400" tIns="3600" rIns="14400" bIns="3600" anchor="b">
            <a:noAutofit/>
          </a:bodyPr>
          <a:lstStyle/>
          <a:p>
            <a:pPr algn="ctr"/>
            <a:r>
              <a:rPr sz="560" b="0" i="0">
                <a:solidFill>
                  <a:srgbClr val="1B1B1B"/>
                </a:solidFill>
                <a:latin typeface="Arial" panose="020B0604020202020204"/>
              </a:rPr>
              <a:t>flows, duties and</a:t>
            </a:r>
            <a:endParaRPr sz="560" b="0" i="0">
              <a:solidFill>
                <a:srgbClr val="1B1B1B"/>
              </a:solidFill>
              <a:latin typeface="Arial" panose="020B0604020202020204"/>
            </a:endParaRPr>
          </a:p>
          <a:p>
            <a:pPr algn="ctr"/>
            <a:r>
              <a:rPr sz="560" b="0" i="0">
                <a:solidFill>
                  <a:srgbClr val="1B1B1B"/>
                </a:solidFill>
                <a:latin typeface="Arial" panose="020B0604020202020204"/>
              </a:rPr>
              <a:t>catalyst inventory</a:t>
            </a:r>
            <a:endParaRPr sz="560" b="0" i="0">
              <a:solidFill>
                <a:srgbClr val="1B1B1B"/>
              </a:solidFill>
              <a:latin typeface="Arial" panose="020B0604020202020204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4175585" y="1447530"/>
            <a:ext cx="828000" cy="252000"/>
          </a:xfrm>
          <a:prstGeom prst="rect">
            <a:avLst/>
          </a:prstGeom>
          <a:noFill/>
        </p:spPr>
        <p:txBody>
          <a:bodyPr wrap="square" lIns="14400" tIns="3600" rIns="14400" bIns="3600" anchor="t">
            <a:spAutoFit/>
          </a:bodyPr>
          <a:lstStyle/>
          <a:p>
            <a:pPr algn="ctr"/>
            <a:r>
              <a:rPr sz="560" b="0" i="0">
                <a:solidFill>
                  <a:srgbClr val="1B1B1B"/>
                </a:solidFill>
                <a:latin typeface="Arial" panose="020B0604020202020204"/>
              </a:rPr>
              <a:t>T, P, separator</a:t>
            </a:r>
            <a:endParaRPr sz="560" b="0" i="0">
              <a:solidFill>
                <a:srgbClr val="1B1B1B"/>
              </a:solidFill>
              <a:latin typeface="Arial" panose="020B0604020202020204"/>
            </a:endParaRPr>
          </a:p>
          <a:p>
            <a:pPr algn="ctr"/>
            <a:r>
              <a:rPr sz="560" b="0" i="0">
                <a:solidFill>
                  <a:srgbClr val="1B1B1B"/>
                </a:solidFill>
                <a:latin typeface="Arial" panose="020B0604020202020204"/>
              </a:rPr>
              <a:t>and purge optimized</a:t>
            </a:r>
            <a:endParaRPr sz="560" b="0" i="0">
              <a:solidFill>
                <a:srgbClr val="1B1B1B"/>
              </a:solidFill>
              <a:latin typeface="Arial" panose="020B0604020202020204"/>
            </a:endParaRPr>
          </a:p>
        </p:txBody>
      </p:sp>
      <p:cxnSp>
        <p:nvCxnSpPr>
          <p:cNvPr id="48" name="Connector 47"/>
          <p:cNvCxnSpPr/>
          <p:nvPr/>
        </p:nvCxnSpPr>
        <p:spPr>
          <a:xfrm>
            <a:off x="5256000" y="1962000"/>
            <a:ext cx="972000" cy="0"/>
          </a:xfrm>
          <a:prstGeom prst="line">
            <a:avLst/>
          </a:prstGeom>
          <a:ln w="7620">
            <a:solidFill>
              <a:srgbClr val="2B2E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5256000" y="1350000"/>
            <a:ext cx="0" cy="612000"/>
          </a:xfrm>
          <a:prstGeom prst="line">
            <a:avLst/>
          </a:prstGeom>
          <a:ln w="7620">
            <a:solidFill>
              <a:srgbClr val="2B2E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5436000" y="1782000"/>
            <a:ext cx="216000" cy="180000"/>
          </a:xfrm>
          <a:prstGeom prst="rect">
            <a:avLst/>
          </a:prstGeom>
          <a:solidFill>
            <a:srgbClr val="7789B7"/>
          </a:solidFill>
          <a:ln w="4445">
            <a:solidFill>
              <a:srgbClr val="2B2E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5436000" y="1674000"/>
            <a:ext cx="216000" cy="108000"/>
          </a:xfrm>
          <a:prstGeom prst="rect">
            <a:avLst/>
          </a:prstGeom>
          <a:solidFill>
            <a:srgbClr val="89AA7B"/>
          </a:solidFill>
          <a:ln w="4445">
            <a:solidFill>
              <a:srgbClr val="2B2E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ectangle 51"/>
          <p:cNvSpPr/>
          <p:nvPr/>
        </p:nvSpPr>
        <p:spPr>
          <a:xfrm>
            <a:off x="5436000" y="1602000"/>
            <a:ext cx="216000" cy="72000"/>
          </a:xfrm>
          <a:prstGeom prst="rect">
            <a:avLst/>
          </a:prstGeom>
          <a:solidFill>
            <a:srgbClr val="E3C16F"/>
          </a:solidFill>
          <a:ln w="4445">
            <a:solidFill>
              <a:srgbClr val="2B2E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5364000" y="1972800"/>
            <a:ext cx="360000" cy="115200"/>
          </a:xfrm>
          <a:prstGeom prst="rect">
            <a:avLst/>
          </a:prstGeom>
          <a:noFill/>
        </p:spPr>
        <p:txBody>
          <a:bodyPr wrap="square" lIns="14400" tIns="3600" rIns="14400" bIns="3600" anchor="ctr">
            <a:spAutoFit/>
          </a:bodyPr>
          <a:lstStyle/>
          <a:p>
            <a:pPr algn="ctr"/>
            <a:r>
              <a:rPr sz="500" b="0" i="0">
                <a:solidFill>
                  <a:srgbClr val="1B1B1B"/>
                </a:solidFill>
                <a:latin typeface="Arial" panose="020B0604020202020204"/>
              </a:rPr>
              <a:t>catalyst 1</a:t>
            </a:r>
            <a:endParaRPr sz="500" b="0" i="0">
              <a:solidFill>
                <a:srgbClr val="1B1B1B"/>
              </a:solidFill>
              <a:latin typeface="Arial" panose="020B0604020202020204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5832000" y="1656000"/>
            <a:ext cx="216000" cy="306000"/>
          </a:xfrm>
          <a:prstGeom prst="rect">
            <a:avLst/>
          </a:prstGeom>
          <a:solidFill>
            <a:srgbClr val="7789B7"/>
          </a:solidFill>
          <a:ln w="4445">
            <a:solidFill>
              <a:srgbClr val="2B2E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5832000" y="1494000"/>
            <a:ext cx="216000" cy="162000"/>
          </a:xfrm>
          <a:prstGeom prst="rect">
            <a:avLst/>
          </a:prstGeom>
          <a:solidFill>
            <a:srgbClr val="89AA7B"/>
          </a:solidFill>
          <a:ln w="4445">
            <a:solidFill>
              <a:srgbClr val="2B2E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5832000" y="1393200"/>
            <a:ext cx="216000" cy="100800"/>
          </a:xfrm>
          <a:prstGeom prst="rect">
            <a:avLst/>
          </a:prstGeom>
          <a:solidFill>
            <a:srgbClr val="E3C16F"/>
          </a:solidFill>
          <a:ln w="4445">
            <a:solidFill>
              <a:srgbClr val="2B2E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5760000" y="1972800"/>
            <a:ext cx="360000" cy="115200"/>
          </a:xfrm>
          <a:prstGeom prst="rect">
            <a:avLst/>
          </a:prstGeom>
          <a:noFill/>
        </p:spPr>
        <p:txBody>
          <a:bodyPr wrap="square" lIns="14400" tIns="3600" rIns="14400" bIns="3600" anchor="ctr">
            <a:spAutoFit/>
          </a:bodyPr>
          <a:lstStyle/>
          <a:p>
            <a:pPr algn="ctr"/>
            <a:r>
              <a:rPr sz="500" b="0" i="0">
                <a:solidFill>
                  <a:srgbClr val="1B1B1B"/>
                </a:solidFill>
                <a:latin typeface="Arial" panose="020B0604020202020204"/>
              </a:rPr>
              <a:t>catalyst 2</a:t>
            </a:r>
            <a:endParaRPr sz="500" b="0" i="0">
              <a:solidFill>
                <a:srgbClr val="1B1B1B"/>
              </a:solidFill>
              <a:latin typeface="Arial" panose="020B0604020202020204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288000" y="997200"/>
            <a:ext cx="720000" cy="129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080">
            <a:solidFill>
              <a:srgbClr val="C9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" tIns="3600" rIns="14400" bIns="3600" rtlCol="0" anchor="ctr"/>
          <a:lstStyle/>
          <a:p>
            <a:pPr algn="ctr"/>
            <a:r>
              <a:rPr sz="600" b="0" i="0">
                <a:solidFill>
                  <a:srgbClr val="1B1B1B"/>
                </a:solidFill>
                <a:latin typeface="Arial" panose="020B0604020202020204"/>
              </a:rPr>
              <a:t>active site</a:t>
            </a:r>
            <a:endParaRPr sz="600" b="0" i="0">
              <a:solidFill>
                <a:srgbClr val="1B1B1B"/>
              </a:solidFill>
              <a:latin typeface="Arial" panose="020B0604020202020204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1260000" y="997200"/>
            <a:ext cx="864000" cy="129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080">
            <a:solidFill>
              <a:srgbClr val="C9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" tIns="3600" rIns="14400" bIns="3600" rtlCol="0" anchor="ctr"/>
          <a:lstStyle/>
          <a:p>
            <a:pPr algn="ctr"/>
            <a:r>
              <a:rPr sz="600" b="0" i="0">
                <a:solidFill>
                  <a:srgbClr val="1B1B1B"/>
                </a:solidFill>
                <a:latin typeface="Arial" panose="020B0604020202020204"/>
              </a:rPr>
              <a:t>supported particle</a:t>
            </a:r>
            <a:endParaRPr sz="600" b="0" i="0">
              <a:solidFill>
                <a:srgbClr val="1B1B1B"/>
              </a:solidFill>
              <a:latin typeface="Arial" panose="020B0604020202020204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2304000" y="997200"/>
            <a:ext cx="792000" cy="129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080">
            <a:solidFill>
              <a:srgbClr val="C9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" tIns="3600" rIns="14400" bIns="3600" rtlCol="0" anchor="ctr"/>
          <a:lstStyle/>
          <a:p>
            <a:pPr algn="ctr"/>
            <a:r>
              <a:rPr sz="600" b="0" i="0">
                <a:solidFill>
                  <a:srgbClr val="1B1B1B"/>
                </a:solidFill>
                <a:latin typeface="Arial" panose="020B0604020202020204"/>
              </a:rPr>
              <a:t>catalyst pellets</a:t>
            </a:r>
            <a:endParaRPr sz="600" b="0" i="0">
              <a:solidFill>
                <a:srgbClr val="1B1B1B"/>
              </a:solidFill>
              <a:latin typeface="Arial" panose="020B0604020202020204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3348000" y="997200"/>
            <a:ext cx="792000" cy="129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080">
            <a:solidFill>
              <a:srgbClr val="C9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" tIns="3600" rIns="14400" bIns="3600" rtlCol="0" anchor="ctr"/>
          <a:lstStyle/>
          <a:p>
            <a:pPr algn="ctr"/>
            <a:r>
              <a:rPr sz="600" b="0" i="0">
                <a:solidFill>
                  <a:srgbClr val="1B1B1B"/>
                </a:solidFill>
                <a:latin typeface="Arial" panose="020B0604020202020204"/>
              </a:rPr>
              <a:t>multibed converter</a:t>
            </a:r>
            <a:endParaRPr sz="600" b="0" i="0">
              <a:solidFill>
                <a:srgbClr val="1B1B1B"/>
              </a:solidFill>
              <a:latin typeface="Arial" panose="020B0604020202020204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4284000" y="997200"/>
            <a:ext cx="684000" cy="129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080">
            <a:solidFill>
              <a:srgbClr val="C9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" tIns="3600" rIns="14400" bIns="3600" rtlCol="0" anchor="ctr"/>
          <a:lstStyle/>
          <a:p>
            <a:pPr algn="ctr"/>
            <a:r>
              <a:rPr sz="600" b="0" i="0">
                <a:solidFill>
                  <a:srgbClr val="1B1B1B"/>
                </a:solidFill>
                <a:latin typeface="Arial" panose="020B0604020202020204"/>
              </a:rPr>
              <a:t>synthesis loop</a:t>
            </a:r>
            <a:endParaRPr sz="600" b="0" i="0">
              <a:solidFill>
                <a:srgbClr val="1B1B1B"/>
              </a:solidFill>
              <a:latin typeface="Arial" panose="020B0604020202020204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5400000" y="997200"/>
            <a:ext cx="720000" cy="129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080">
            <a:solidFill>
              <a:srgbClr val="C9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" tIns="3600" rIns="14400" bIns="3600" rtlCol="0" anchor="ctr"/>
          <a:lstStyle/>
          <a:p>
            <a:pPr algn="ctr"/>
            <a:r>
              <a:rPr sz="600" b="0" i="0">
                <a:solidFill>
                  <a:srgbClr val="1B1B1B"/>
                </a:solidFill>
                <a:latin typeface="Arial" panose="020B0604020202020204"/>
              </a:rPr>
              <a:t>cost per tonne</a:t>
            </a:r>
            <a:endParaRPr sz="600" b="0" i="0">
              <a:solidFill>
                <a:srgbClr val="1B1B1B"/>
              </a:solidFill>
              <a:latin typeface="Arial" panose="020B0604020202020204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1332245" y="1954725"/>
            <a:ext cx="576000" cy="115200"/>
          </a:xfrm>
          <a:prstGeom prst="rect">
            <a:avLst/>
          </a:prstGeom>
          <a:noFill/>
        </p:spPr>
        <p:txBody>
          <a:bodyPr wrap="square" lIns="14400" tIns="3600" rIns="14400" bIns="3600" anchor="ctr">
            <a:spAutoFit/>
          </a:bodyPr>
          <a:lstStyle/>
          <a:p>
            <a:pPr algn="ctr"/>
            <a:r>
              <a:rPr sz="600" b="1" i="0">
                <a:solidFill>
                  <a:srgbClr val="1B1B1B"/>
                </a:solidFill>
                <a:latin typeface="Arial" panose="020B0604020202020204"/>
              </a:rPr>
              <a:t>~10 nm</a:t>
            </a:r>
            <a:endParaRPr sz="600" b="1" i="0">
              <a:solidFill>
                <a:srgbClr val="1B1B1B"/>
              </a:solidFill>
              <a:latin typeface="Arial" panose="020B0604020202020204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2284365" y="1955360"/>
            <a:ext cx="576000" cy="115200"/>
          </a:xfrm>
          <a:prstGeom prst="rect">
            <a:avLst/>
          </a:prstGeom>
          <a:noFill/>
        </p:spPr>
        <p:txBody>
          <a:bodyPr wrap="square" lIns="14400" tIns="3600" rIns="14400" bIns="3600" anchor="ctr">
            <a:spAutoFit/>
          </a:bodyPr>
          <a:lstStyle/>
          <a:p>
            <a:pPr algn="ctr"/>
            <a:r>
              <a:rPr sz="600" b="1" i="0">
                <a:solidFill>
                  <a:srgbClr val="1B1B1B"/>
                </a:solidFill>
                <a:latin typeface="Arial" panose="020B0604020202020204"/>
              </a:rPr>
              <a:t>~5 mm</a:t>
            </a:r>
            <a:endParaRPr sz="600" b="1" i="0">
              <a:solidFill>
                <a:srgbClr val="1B1B1B"/>
              </a:solidFill>
              <a:latin typeface="Arial" panose="020B0604020202020204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543560" y="2196465"/>
            <a:ext cx="2275205" cy="149225"/>
          </a:xfrm>
          <a:prstGeom prst="roundRect">
            <a:avLst>
              <a:gd name="adj" fmla="val 30000"/>
            </a:avLst>
          </a:prstGeom>
          <a:solidFill>
            <a:srgbClr val="D5D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" tIns="3600" rIns="14400" bIns="3600" rtlCol="0" anchor="ctr"/>
          <a:lstStyle/>
          <a:p>
            <a:pPr algn="ctr"/>
            <a:r>
              <a:rPr sz="800" b="1" i="0">
                <a:solidFill>
                  <a:srgbClr val="1B1B1B"/>
                </a:solidFill>
                <a:latin typeface="Arial" panose="020B0604020202020204"/>
              </a:rPr>
              <a:t>kinetics: descriptor turnover or rate law</a:t>
            </a:r>
            <a:endParaRPr sz="800" b="1" i="0">
              <a:solidFill>
                <a:srgbClr val="1B1B1B"/>
              </a:solidFill>
              <a:latin typeface="Arial" panose="020B0604020202020204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3042285" y="2196465"/>
            <a:ext cx="1376680" cy="149225"/>
          </a:xfrm>
          <a:prstGeom prst="roundRect">
            <a:avLst>
              <a:gd name="adj" fmla="val 30000"/>
            </a:avLst>
          </a:prstGeom>
          <a:solidFill>
            <a:srgbClr val="DCE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" tIns="3600" rIns="14400" bIns="3600" rtlCol="0" anchor="ctr"/>
          <a:lstStyle/>
          <a:p>
            <a:pPr algn="ctr"/>
            <a:r>
              <a:rPr sz="800" b="1" i="0">
                <a:solidFill>
                  <a:srgbClr val="1B1B1B"/>
                </a:solidFill>
                <a:latin typeface="Arial" panose="020B0604020202020204"/>
              </a:rPr>
              <a:t>process optimization</a:t>
            </a:r>
            <a:endParaRPr sz="800" b="1" i="0">
              <a:solidFill>
                <a:srgbClr val="1B1B1B"/>
              </a:solidFill>
              <a:latin typeface="Arial" panose="020B0604020202020204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5148000" y="2177475"/>
            <a:ext cx="1296000" cy="144000"/>
          </a:xfrm>
          <a:prstGeom prst="roundRect">
            <a:avLst>
              <a:gd name="adj" fmla="val 30000"/>
            </a:avLst>
          </a:prstGeom>
          <a:solidFill>
            <a:srgbClr val="EFE3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" tIns="3600" rIns="14400" bIns="3600" rtlCol="0" anchor="ctr"/>
          <a:lstStyle/>
          <a:p>
            <a:pPr algn="ctr"/>
            <a:r>
              <a:rPr sz="800" b="1" i="0">
                <a:solidFill>
                  <a:srgbClr val="1B1B1B"/>
                </a:solidFill>
                <a:latin typeface="Arial" panose="020B0604020202020204"/>
              </a:rPr>
              <a:t>catalyst-dependent cost</a:t>
            </a:r>
            <a:endParaRPr sz="800" b="1" i="0">
              <a:solidFill>
                <a:srgbClr val="1B1B1B"/>
              </a:solidFill>
              <a:latin typeface="Arial" panose="020B0604020202020204"/>
            </a:endParaRPr>
          </a:p>
        </p:txBody>
      </p:sp>
      <p:grpSp>
        <p:nvGrpSpPr>
          <p:cNvPr id="84" name="组合 83"/>
          <p:cNvGrpSpPr/>
          <p:nvPr/>
        </p:nvGrpSpPr>
        <p:grpSpPr>
          <a:xfrm>
            <a:off x="360045" y="1134110"/>
            <a:ext cx="3646805" cy="932640"/>
            <a:chOff x="567" y="1774"/>
            <a:chExt cx="5743" cy="1469"/>
          </a:xfrm>
        </p:grpSpPr>
        <p:pic>
          <p:nvPicPr>
            <p:cNvPr id="35" name="Picture 34" descr="_trim_surface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67" y="2084"/>
              <a:ext cx="1178" cy="1034"/>
            </a:xfrm>
            <a:prstGeom prst="rect">
              <a:avLst/>
            </a:prstGeom>
          </p:spPr>
        </p:pic>
        <p:pic>
          <p:nvPicPr>
            <p:cNvPr id="38" name="Picture 37" descr="_trim_converter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438" y="1774"/>
              <a:ext cx="872" cy="1445"/>
            </a:xfrm>
            <a:prstGeom prst="rect">
              <a:avLst/>
            </a:prstGeom>
          </p:spPr>
        </p:pic>
        <p:sp>
          <p:nvSpPr>
            <p:cNvPr id="78" name="Freeform 39"/>
            <p:cNvSpPr/>
            <p:nvPr/>
          </p:nvSpPr>
          <p:spPr>
            <a:xfrm>
              <a:off x="4621" y="2261"/>
              <a:ext cx="1047" cy="680"/>
            </a:xfrm>
            <a:custGeom>
              <a:avLst/>
              <a:gdLst/>
              <a:ahLst/>
              <a:cxnLst/>
              <a:rect l="l" t="t" r="r" b="b"/>
              <a:pathLst>
                <a:path w="664665" h="432000">
                  <a:moveTo>
                    <a:pt x="0" y="0"/>
                  </a:moveTo>
                  <a:lnTo>
                    <a:pt x="664665" y="28800"/>
                  </a:lnTo>
                  <a:lnTo>
                    <a:pt x="664665" y="100800"/>
                  </a:lnTo>
                  <a:lnTo>
                    <a:pt x="0" y="432000"/>
                  </a:lnTo>
                  <a:close/>
                </a:path>
              </a:pathLst>
            </a:custGeom>
            <a:solidFill>
              <a:srgbClr val="7789B7">
                <a:alpha val="10000"/>
              </a:srgbClr>
            </a:solidFill>
            <a:ln w="444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37" name="Picture 36" descr="extrudates_disc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714" y="2041"/>
              <a:ext cx="1077" cy="1077"/>
            </a:xfrm>
            <a:prstGeom prst="rect">
              <a:avLst/>
            </a:prstGeom>
          </p:spPr>
        </p:pic>
        <p:sp>
          <p:nvSpPr>
            <p:cNvPr id="76" name="Freeform 39"/>
            <p:cNvSpPr/>
            <p:nvPr/>
          </p:nvSpPr>
          <p:spPr>
            <a:xfrm>
              <a:off x="2835" y="2296"/>
              <a:ext cx="1047" cy="680"/>
            </a:xfrm>
            <a:custGeom>
              <a:avLst/>
              <a:gdLst/>
              <a:ahLst/>
              <a:cxnLst/>
              <a:rect l="l" t="t" r="r" b="b"/>
              <a:pathLst>
                <a:path w="664665" h="432000">
                  <a:moveTo>
                    <a:pt x="0" y="0"/>
                  </a:moveTo>
                  <a:lnTo>
                    <a:pt x="664665" y="28800"/>
                  </a:lnTo>
                  <a:lnTo>
                    <a:pt x="664665" y="100800"/>
                  </a:lnTo>
                  <a:lnTo>
                    <a:pt x="0" y="432000"/>
                  </a:lnTo>
                  <a:close/>
                </a:path>
              </a:pathLst>
            </a:custGeom>
            <a:solidFill>
              <a:srgbClr val="7789B7">
                <a:alpha val="10000"/>
              </a:srgbClr>
            </a:solidFill>
            <a:ln w="444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36" name="Picture 35" descr="_trim_nanoparticle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047" y="2211"/>
              <a:ext cx="1236" cy="850"/>
            </a:xfrm>
            <a:prstGeom prst="rect">
              <a:avLst/>
            </a:prstGeom>
          </p:spPr>
        </p:pic>
        <p:sp>
          <p:nvSpPr>
            <p:cNvPr id="39" name="Rectangle 38"/>
            <p:cNvSpPr/>
            <p:nvPr/>
          </p:nvSpPr>
          <p:spPr>
            <a:xfrm>
              <a:off x="2546" y="2341"/>
              <a:ext cx="113" cy="113"/>
            </a:xfrm>
            <a:prstGeom prst="rect">
              <a:avLst/>
            </a:prstGeom>
            <a:noFill/>
            <a:ln w="7620">
              <a:solidFill>
                <a:srgbClr val="2B2E3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3" name="Rectangle 42"/>
            <p:cNvSpPr/>
            <p:nvPr/>
          </p:nvSpPr>
          <p:spPr>
            <a:xfrm>
              <a:off x="5668" y="2296"/>
              <a:ext cx="113" cy="113"/>
            </a:xfrm>
            <a:prstGeom prst="rect">
              <a:avLst/>
            </a:prstGeom>
            <a:noFill/>
            <a:ln w="7620">
              <a:solidFill>
                <a:srgbClr val="2B2E3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cxnSp>
          <p:nvCxnSpPr>
            <p:cNvPr id="64" name="Connector 63"/>
            <p:cNvCxnSpPr/>
            <p:nvPr/>
          </p:nvCxnSpPr>
          <p:spPr>
            <a:xfrm>
              <a:off x="1009" y="3161"/>
              <a:ext cx="425" cy="0"/>
            </a:xfrm>
            <a:prstGeom prst="line">
              <a:avLst/>
            </a:prstGeom>
            <a:ln w="20320">
              <a:solidFill>
                <a:srgbClr val="3A3D4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Box 70"/>
            <p:cNvSpPr txBox="1"/>
            <p:nvPr/>
          </p:nvSpPr>
          <p:spPr>
            <a:xfrm>
              <a:off x="4694" y="3061"/>
              <a:ext cx="907" cy="181"/>
            </a:xfrm>
            <a:prstGeom prst="rect">
              <a:avLst/>
            </a:prstGeom>
            <a:noFill/>
          </p:spPr>
          <p:txBody>
            <a:bodyPr wrap="square" lIns="14400" tIns="3600" rIns="14400" bIns="3600" anchor="ctr">
              <a:spAutoFit/>
            </a:bodyPr>
            <a:lstStyle/>
            <a:p>
              <a:pPr algn="ctr"/>
              <a:r>
                <a:rPr sz="600" b="1" i="0">
                  <a:solidFill>
                    <a:srgbClr val="1B1B1B"/>
                  </a:solidFill>
                  <a:latin typeface="Arial" panose="020B0604020202020204"/>
                </a:rPr>
                <a:t>~10 m</a:t>
              </a:r>
              <a:endParaRPr sz="600" b="1" i="0">
                <a:solidFill>
                  <a:srgbClr val="1B1B1B"/>
                </a:solidFill>
                <a:latin typeface="Arial" panose="020B0604020202020204"/>
              </a:endParaRPr>
            </a:p>
          </p:txBody>
        </p:sp>
        <p:sp>
          <p:nvSpPr>
            <p:cNvPr id="40" name="Freeform 39"/>
            <p:cNvSpPr/>
            <p:nvPr/>
          </p:nvSpPr>
          <p:spPr>
            <a:xfrm>
              <a:off x="1499" y="2296"/>
              <a:ext cx="1047" cy="680"/>
            </a:xfrm>
            <a:custGeom>
              <a:avLst/>
              <a:gdLst/>
              <a:ahLst/>
              <a:cxnLst/>
              <a:rect l="l" t="t" r="r" b="b"/>
              <a:pathLst>
                <a:path w="664665" h="432000">
                  <a:moveTo>
                    <a:pt x="0" y="0"/>
                  </a:moveTo>
                  <a:lnTo>
                    <a:pt x="664665" y="28800"/>
                  </a:lnTo>
                  <a:lnTo>
                    <a:pt x="664665" y="100800"/>
                  </a:lnTo>
                  <a:lnTo>
                    <a:pt x="0" y="432000"/>
                  </a:lnTo>
                  <a:close/>
                </a:path>
              </a:pathLst>
            </a:custGeom>
            <a:solidFill>
              <a:srgbClr val="7789B7">
                <a:alpha val="10000"/>
              </a:srgbClr>
            </a:solidFill>
            <a:ln w="444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" name="Rectangle 38"/>
            <p:cNvSpPr/>
            <p:nvPr/>
          </p:nvSpPr>
          <p:spPr>
            <a:xfrm>
              <a:off x="3882" y="2341"/>
              <a:ext cx="113" cy="113"/>
            </a:xfrm>
            <a:prstGeom prst="rect">
              <a:avLst/>
            </a:prstGeom>
            <a:noFill/>
            <a:ln w="7620">
              <a:solidFill>
                <a:srgbClr val="2B2E3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cxnSp>
          <p:nvCxnSpPr>
            <p:cNvPr id="81" name="Connector 63"/>
            <p:cNvCxnSpPr/>
            <p:nvPr/>
          </p:nvCxnSpPr>
          <p:spPr>
            <a:xfrm>
              <a:off x="2812" y="3161"/>
              <a:ext cx="425" cy="0"/>
            </a:xfrm>
            <a:prstGeom prst="line">
              <a:avLst/>
            </a:prstGeom>
            <a:ln w="20320">
              <a:solidFill>
                <a:srgbClr val="3A3D4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nector 63"/>
            <p:cNvCxnSpPr/>
            <p:nvPr/>
          </p:nvCxnSpPr>
          <p:spPr>
            <a:xfrm>
              <a:off x="4269" y="3161"/>
              <a:ext cx="425" cy="0"/>
            </a:xfrm>
            <a:prstGeom prst="line">
              <a:avLst/>
            </a:prstGeom>
            <a:ln w="20320">
              <a:solidFill>
                <a:srgbClr val="3A3D4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nector 63"/>
            <p:cNvCxnSpPr/>
            <p:nvPr/>
          </p:nvCxnSpPr>
          <p:spPr>
            <a:xfrm>
              <a:off x="5356" y="3161"/>
              <a:ext cx="425" cy="0"/>
            </a:xfrm>
            <a:prstGeom prst="line">
              <a:avLst/>
            </a:prstGeom>
            <a:ln w="20320">
              <a:solidFill>
                <a:srgbClr val="3A3D4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526</Words>
  <Application>WPS 演示</Application>
  <PresentationFormat>On-screen Show (4:3)</PresentationFormat>
  <Paragraphs>70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Arial</vt:lpstr>
      <vt:lpstr>Calibri</vt:lpstr>
      <vt:lpstr>微软雅黑</vt:lpstr>
      <vt:lpstr>Arial Unicode MS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阿巴阿巴</cp:lastModifiedBy>
  <cp:revision>3</cp:revision>
  <dcterms:created xsi:type="dcterms:W3CDTF">2013-01-27T09:14:00Z</dcterms:created>
  <dcterms:modified xsi:type="dcterms:W3CDTF">2026-10-22T06:12:23Z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695D56B90C84426CB7CD8964DA757189_12</vt:lpwstr>
  </property>
  <property fmtid="{D5CDD505-2E9C-101B-9397-08002B2CF9AE}" pid="3" name="KSOProductBuildVer">
    <vt:lpwstr>2052-12.1.0.28802</vt:lpwstr>
  </property>
</Properties>
</file>