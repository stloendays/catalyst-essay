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588000" cy="266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Rounded Rectangle 5"/>
          <p:cNvSpPr/>
          <p:nvPr/>
        </p:nvSpPr>
        <p:spPr>
          <a:xfrm>
            <a:off x="1386000" y="54000"/>
            <a:ext cx="3762000" cy="720000"/>
          </a:xfrm>
          <a:prstGeom prst="roundRect">
            <a:avLst>
              <a:gd name="adj" fmla="val 6000"/>
            </a:avLst>
          </a:prstGeom>
          <a:solidFill>
            <a:srgbClr val="E3E7F0"/>
          </a:solidFill>
          <a:ln w="7620">
            <a:solidFill>
              <a:srgbClr val="8C92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90000" y="954000"/>
            <a:ext cx="6408000" cy="1656000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 w="7620">
            <a:solidFill>
              <a:srgbClr val="8C92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Freeform 43"/>
          <p:cNvSpPr/>
          <p:nvPr/>
        </p:nvSpPr>
        <p:spPr>
          <a:xfrm>
            <a:off x="3006000" y="1386000"/>
            <a:ext cx="772845" cy="576000"/>
          </a:xfrm>
          <a:custGeom>
            <a:avLst/>
            <a:gdLst/>
            <a:ahLst/>
            <a:cxnLst/>
            <a:rect l="l" t="t" r="r" b="b"/>
            <a:pathLst>
              <a:path w="772845" h="576000">
                <a:moveTo>
                  <a:pt x="0" y="0"/>
                </a:moveTo>
                <a:lnTo>
                  <a:pt x="772845" y="369719"/>
                </a:lnTo>
                <a:lnTo>
                  <a:pt x="772845" y="441719"/>
                </a:lnTo>
                <a:lnTo>
                  <a:pt x="0" y="576000"/>
                </a:lnTo>
                <a:close/>
              </a:path>
            </a:pathLst>
          </a:custGeom>
          <a:solidFill>
            <a:srgbClr val="7789B7">
              <a:alpha val="10000"/>
            </a:srgbClr>
          </a:solidFill>
          <a:ln w="4445">
            <a:solidFill>
              <a:srgbClr val="7A8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2048324" y="1458000"/>
            <a:ext cx="478876" cy="432000"/>
          </a:xfrm>
          <a:custGeom>
            <a:avLst/>
            <a:gdLst/>
            <a:ahLst/>
            <a:cxnLst/>
            <a:rect l="l" t="t" r="r" b="b"/>
            <a:pathLst>
              <a:path w="478876" h="432000">
                <a:moveTo>
                  <a:pt x="0" y="0"/>
                </a:moveTo>
                <a:lnTo>
                  <a:pt x="478876" y="145800"/>
                </a:lnTo>
                <a:lnTo>
                  <a:pt x="478876" y="217800"/>
                </a:lnTo>
                <a:lnTo>
                  <a:pt x="0" y="432000"/>
                </a:lnTo>
                <a:close/>
              </a:path>
            </a:pathLst>
          </a:custGeom>
          <a:solidFill>
            <a:srgbClr val="7789B7">
              <a:alpha val="10000"/>
            </a:srgbClr>
          </a:solidFill>
          <a:ln w="4445">
            <a:solidFill>
              <a:srgbClr val="7A8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952102" y="1458000"/>
            <a:ext cx="664665" cy="432000"/>
          </a:xfrm>
          <a:custGeom>
            <a:avLst/>
            <a:gdLst/>
            <a:ahLst/>
            <a:cxnLst/>
            <a:rect l="l" t="t" r="r" b="b"/>
            <a:pathLst>
              <a:path w="664665" h="432000">
                <a:moveTo>
                  <a:pt x="0" y="0"/>
                </a:moveTo>
                <a:lnTo>
                  <a:pt x="664665" y="28800"/>
                </a:lnTo>
                <a:lnTo>
                  <a:pt x="664665" y="100800"/>
                </a:lnTo>
                <a:lnTo>
                  <a:pt x="0" y="432000"/>
                </a:lnTo>
                <a:close/>
              </a:path>
            </a:pathLst>
          </a:custGeom>
          <a:solidFill>
            <a:srgbClr val="7789B7">
              <a:alpha val="10000"/>
            </a:srgbClr>
          </a:solidFill>
          <a:ln w="4445">
            <a:solidFill>
              <a:srgbClr val="7A8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ounded Rectangle 1"/>
          <p:cNvSpPr/>
          <p:nvPr/>
        </p:nvSpPr>
        <p:spPr>
          <a:xfrm>
            <a:off x="90000" y="90000"/>
            <a:ext cx="1116000" cy="6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8C92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thumb_pap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69200"/>
            <a:ext cx="413050" cy="489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0000" y="133200"/>
            <a:ext cx="648000" cy="162000"/>
          </a:xfrm>
          <a:prstGeom prst="rect">
            <a:avLst/>
          </a:prstGeom>
          <a:noFill/>
        </p:spPr>
        <p:txBody>
          <a:bodyPr wrap="square" lIns="14400" rIns="14400" tIns="3600" bIns="3600" anchor="ctr">
            <a:spAutoFit/>
          </a:bodyPr>
          <a:lstStyle/>
          <a:p>
            <a:pPr algn="l"/>
            <a:r>
              <a:rPr sz="700" b="1" i="0">
                <a:solidFill>
                  <a:srgbClr val="1B1B1B"/>
                </a:solidFill>
                <a:latin typeface="Arial"/>
              </a:rPr>
              <a:t>Literature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306000"/>
            <a:ext cx="648000" cy="378000"/>
          </a:xfrm>
          <a:prstGeom prst="rect">
            <a:avLst/>
          </a:prstGeom>
          <a:noFill/>
        </p:spPr>
        <p:txBody>
          <a:bodyPr wrap="square" lIns="14400" rIns="14400" tIns="3600" bIns="3600" anchor="t">
            <a:spAutoFit/>
          </a:bodyPr>
          <a:lstStyle/>
          <a:p>
            <a:pPr algn="l"/>
            <a:r>
              <a:rPr sz="560" b="0" i="0">
                <a:solidFill>
                  <a:srgbClr val="1B1B1B"/>
                </a:solidFill>
                <a:latin typeface="Arial"/>
              </a:rPr>
              <a:t>papers and SI:</a:t>
            </a:r>
          </a:p>
          <a:p>
            <a:pPr algn="l"/>
            <a:r>
              <a:rPr sz="560" b="0" i="0">
                <a:solidFill>
                  <a:srgbClr val="1B1B1B"/>
                </a:solidFill>
                <a:latin typeface="Arial"/>
              </a:rPr>
              <a:t>90 methanol</a:t>
            </a:r>
          </a:p>
          <a:p>
            <a:pPr algn="l"/>
            <a:r>
              <a:rPr sz="560" b="0" i="0">
                <a:solidFill>
                  <a:srgbClr val="1B1B1B"/>
                </a:solidFill>
                <a:latin typeface="Arial"/>
              </a:rPr>
              <a:t>52 ammonia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0000" y="68400"/>
            <a:ext cx="432000" cy="151200"/>
          </a:xfrm>
          <a:prstGeom prst="rect">
            <a:avLst/>
          </a:prstGeom>
          <a:noFill/>
        </p:spPr>
        <p:txBody>
          <a:bodyPr wrap="square" lIns="14400" rIns="14400" tIns="3600" bIns="3600" anchor="ctr">
            <a:spAutoFit/>
          </a:bodyPr>
          <a:lstStyle/>
          <a:p>
            <a:pPr algn="l"/>
            <a:r>
              <a:rPr sz="700" b="1" i="0">
                <a:solidFill>
                  <a:srgbClr val="5A6480"/>
                </a:solidFill>
                <a:latin typeface="Arial"/>
              </a:rPr>
              <a:t>ACSA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02000" y="212400"/>
            <a:ext cx="1116000" cy="48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thumb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0800" y="226800"/>
            <a:ext cx="382679" cy="453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048400" y="234000"/>
            <a:ext cx="648000" cy="151200"/>
          </a:xfrm>
          <a:prstGeom prst="rect">
            <a:avLst/>
          </a:prstGeom>
          <a:noFill/>
        </p:spPr>
        <p:txBody>
          <a:bodyPr wrap="square" lIns="14400" rIns="14400" tIns="3600" bIns="3600" anchor="ctr">
            <a:spAutoFit/>
          </a:bodyPr>
          <a:lstStyle/>
          <a:p>
            <a:pPr algn="l"/>
            <a:r>
              <a:rPr sz="680" b="1" i="0">
                <a:solidFill>
                  <a:srgbClr val="1B1B1B"/>
                </a:solidFill>
                <a:latin typeface="Arial"/>
              </a:rPr>
              <a:t>Extract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48400" y="399600"/>
            <a:ext cx="662400" cy="270000"/>
          </a:xfrm>
          <a:prstGeom prst="rect">
            <a:avLst/>
          </a:prstGeom>
          <a:noFill/>
        </p:spPr>
        <p:txBody>
          <a:bodyPr wrap="square" lIns="14400" rIns="14400" tIns="3600" bIns="3600" anchor="t">
            <a:spAutoFit/>
          </a:bodyPr>
          <a:lstStyle/>
          <a:p>
            <a:pPr algn="l"/>
            <a:r>
              <a:rPr sz="550" b="0" i="0">
                <a:solidFill>
                  <a:srgbClr val="1B1B1B"/>
                </a:solidFill>
                <a:latin typeface="Arial"/>
              </a:rPr>
              <a:t>every value with</a:t>
            </a:r>
          </a:p>
          <a:p>
            <a:pPr algn="l"/>
            <a:r>
              <a:rPr sz="550" b="0" i="0">
                <a:solidFill>
                  <a:srgbClr val="1B1B1B"/>
                </a:solidFill>
                <a:latin typeface="Arial"/>
              </a:rPr>
              <a:t>unit and page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60000" y="93600"/>
            <a:ext cx="558000" cy="100800"/>
          </a:xfrm>
          <a:prstGeom prst="roundRect">
            <a:avLst>
              <a:gd name="adj" fmla="val 30000"/>
            </a:avLst>
          </a:prstGeom>
          <a:solidFill>
            <a:srgbClr val="7789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400" rIns="14400" tIns="3600" bIns="3600" wrap="square"/>
          <a:lstStyle/>
          <a:p>
            <a:pPr algn="ctr"/>
            <a:r>
              <a:rPr sz="480" b="0" i="0">
                <a:solidFill>
                  <a:srgbClr val="FFFFFF"/>
                </a:solidFill>
                <a:latin typeface="Arial"/>
              </a:rPr>
              <a:t>language model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25200" y="450000"/>
            <a:ext cx="57600" cy="0"/>
          </a:xfrm>
          <a:prstGeom prst="line">
            <a:avLst/>
          </a:prstGeom>
          <a:ln w="9525">
            <a:solidFill>
              <a:srgbClr val="3C404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790000" y="212400"/>
            <a:ext cx="1116000" cy="48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thumb_self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8800" y="226800"/>
            <a:ext cx="382679" cy="453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236400" y="234000"/>
            <a:ext cx="648000" cy="151200"/>
          </a:xfrm>
          <a:prstGeom prst="rect">
            <a:avLst/>
          </a:prstGeom>
          <a:noFill/>
        </p:spPr>
        <p:txBody>
          <a:bodyPr wrap="square" lIns="14400" rIns="14400" tIns="3600" bIns="3600" anchor="ctr">
            <a:spAutoFit/>
          </a:bodyPr>
          <a:lstStyle/>
          <a:p>
            <a:pPr algn="l"/>
            <a:r>
              <a:rPr sz="680" b="1" i="0">
                <a:solidFill>
                  <a:srgbClr val="1B1B1B"/>
                </a:solidFill>
                <a:latin typeface="Arial"/>
              </a:rPr>
              <a:t>Self-check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36400" y="399600"/>
            <a:ext cx="662400" cy="270000"/>
          </a:xfrm>
          <a:prstGeom prst="rect">
            <a:avLst/>
          </a:prstGeom>
          <a:noFill/>
        </p:spPr>
        <p:txBody>
          <a:bodyPr wrap="square" lIns="14400" rIns="14400" tIns="3600" bIns="3600" anchor="t">
            <a:spAutoFit/>
          </a:bodyPr>
          <a:lstStyle/>
          <a:p>
            <a:pPr algn="l"/>
            <a:r>
              <a:rPr sz="550" b="0" i="0">
                <a:solidFill>
                  <a:srgbClr val="1B1B1B"/>
                </a:solidFill>
                <a:latin typeface="Arial"/>
              </a:rPr>
              <a:t>hand-built results</a:t>
            </a:r>
          </a:p>
          <a:p>
            <a:pPr algn="l"/>
            <a:r>
              <a:rPr sz="550" b="0" i="0">
                <a:solidFill>
                  <a:srgbClr val="1B1B1B"/>
                </a:solidFill>
                <a:latin typeface="Arial"/>
              </a:rPr>
              <a:t>reproduced first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18000" y="93600"/>
            <a:ext cx="288000" cy="100800"/>
          </a:xfrm>
          <a:prstGeom prst="roundRect">
            <a:avLst>
              <a:gd name="adj" fmla="val 30000"/>
            </a:avLst>
          </a:prstGeom>
          <a:solidFill>
            <a:srgbClr val="5E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400" rIns="14400" tIns="3600" bIns="3600" wrap="square"/>
          <a:lstStyle/>
          <a:p>
            <a:pPr algn="ctr"/>
            <a:r>
              <a:rPr sz="480" b="0" i="0">
                <a:solidFill>
                  <a:srgbClr val="FFFFFF"/>
                </a:solidFill>
                <a:latin typeface="Arial"/>
              </a:rPr>
              <a:t>code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913200" y="450000"/>
            <a:ext cx="57600" cy="0"/>
          </a:xfrm>
          <a:prstGeom prst="line">
            <a:avLst/>
          </a:prstGeom>
          <a:ln w="9525">
            <a:solidFill>
              <a:srgbClr val="3C404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978000" y="212400"/>
            <a:ext cx="1116000" cy="48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Picture 20" descr="thumb_bou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6800" y="226800"/>
            <a:ext cx="382679" cy="4536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424400" y="234000"/>
            <a:ext cx="648000" cy="151200"/>
          </a:xfrm>
          <a:prstGeom prst="rect">
            <a:avLst/>
          </a:prstGeom>
          <a:noFill/>
        </p:spPr>
        <p:txBody>
          <a:bodyPr wrap="square" lIns="14400" rIns="14400" tIns="3600" bIns="3600" anchor="ctr">
            <a:spAutoFit/>
          </a:bodyPr>
          <a:lstStyle/>
          <a:p>
            <a:pPr algn="l"/>
            <a:r>
              <a:rPr sz="680" b="1" i="0">
                <a:solidFill>
                  <a:srgbClr val="1B1B1B"/>
                </a:solidFill>
                <a:latin typeface="Arial"/>
              </a:rPr>
              <a:t>Bound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24400" y="399600"/>
            <a:ext cx="662400" cy="270000"/>
          </a:xfrm>
          <a:prstGeom prst="rect">
            <a:avLst/>
          </a:prstGeom>
          <a:noFill/>
        </p:spPr>
        <p:txBody>
          <a:bodyPr wrap="square" lIns="14400" rIns="14400" tIns="3600" bIns="3600" anchor="t">
            <a:spAutoFit/>
          </a:bodyPr>
          <a:lstStyle/>
          <a:p>
            <a:pPr algn="l"/>
            <a:r>
              <a:rPr sz="550" b="0" i="0">
                <a:solidFill>
                  <a:srgbClr val="1B1B1B"/>
                </a:solidFill>
                <a:latin typeface="Arial"/>
              </a:rPr>
              <a:t>full optimization</a:t>
            </a:r>
          </a:p>
          <a:p>
            <a:pPr algn="l"/>
            <a:r>
              <a:rPr sz="550" b="0" i="0">
                <a:solidFill>
                  <a:srgbClr val="1B1B1B"/>
                </a:solidFill>
                <a:latin typeface="Arial"/>
              </a:rPr>
              <a:t>only where needed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06000" y="93600"/>
            <a:ext cx="288000" cy="100800"/>
          </a:xfrm>
          <a:prstGeom prst="roundRect">
            <a:avLst>
              <a:gd name="adj" fmla="val 30000"/>
            </a:avLst>
          </a:prstGeom>
          <a:solidFill>
            <a:srgbClr val="5E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400" rIns="14400" tIns="3600" bIns="3600" wrap="square"/>
          <a:lstStyle/>
          <a:p>
            <a:pPr algn="ctr"/>
            <a:r>
              <a:rPr sz="480" b="0" i="0">
                <a:solidFill>
                  <a:srgbClr val="FFFFFF"/>
                </a:solidFill>
                <a:latin typeface="Arial"/>
              </a:rPr>
              <a:t>code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46000" y="90000"/>
            <a:ext cx="1152000" cy="6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8C92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6" name="Picture 25" descr="thumb_bum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85600" y="169200"/>
            <a:ext cx="413050" cy="4896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796000" y="133200"/>
            <a:ext cx="702000" cy="162000"/>
          </a:xfrm>
          <a:prstGeom prst="rect">
            <a:avLst/>
          </a:prstGeom>
          <a:noFill/>
        </p:spPr>
        <p:txBody>
          <a:bodyPr wrap="square" lIns="14400" rIns="14400" tIns="3600" bIns="3600" anchor="ctr">
            <a:spAutoFit/>
          </a:bodyPr>
          <a:lstStyle/>
          <a:p>
            <a:pPr algn="l"/>
            <a:r>
              <a:rPr sz="700" b="1" i="0">
                <a:solidFill>
                  <a:srgbClr val="1B1B1B"/>
                </a:solidFill>
                <a:latin typeface="Arial"/>
              </a:rPr>
              <a:t>Leaderboards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96000" y="306000"/>
            <a:ext cx="702000" cy="378000"/>
          </a:xfrm>
          <a:prstGeom prst="rect">
            <a:avLst/>
          </a:prstGeom>
          <a:noFill/>
        </p:spPr>
        <p:txBody>
          <a:bodyPr wrap="square" lIns="14400" rIns="14400" tIns="3600" bIns="3600" anchor="t">
            <a:spAutoFit/>
          </a:bodyPr>
          <a:lstStyle/>
          <a:p>
            <a:pPr algn="l"/>
            <a:r>
              <a:rPr sz="560" b="0" i="0">
                <a:solidFill>
                  <a:srgbClr val="1B1B1B"/>
                </a:solidFill>
                <a:latin typeface="Arial"/>
              </a:rPr>
              <a:t>laboratory leader</a:t>
            </a:r>
          </a:p>
          <a:p>
            <a:pPr algn="l"/>
            <a:r>
              <a:rPr sz="560" b="0" i="0">
                <a:solidFill>
                  <a:srgbClr val="1B1B1B"/>
                </a:solidFill>
                <a:latin typeface="Arial"/>
              </a:rPr>
              <a:t>vs plant-cost</a:t>
            </a:r>
          </a:p>
          <a:p>
            <a:pPr algn="l"/>
            <a:r>
              <a:rPr sz="560" b="0" i="0">
                <a:solidFill>
                  <a:srgbClr val="1B1B1B"/>
                </a:solidFill>
                <a:latin typeface="Arial"/>
              </a:rPr>
              <a:t>leader (b, c)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209600" y="414000"/>
            <a:ext cx="172800" cy="0"/>
          </a:xfrm>
          <a:prstGeom prst="line">
            <a:avLst/>
          </a:prstGeom>
          <a:ln w="9525">
            <a:solidFill>
              <a:srgbClr val="3C404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72000" y="777600"/>
            <a:ext cx="0" cy="169200"/>
          </a:xfrm>
          <a:prstGeom prst="line">
            <a:avLst/>
          </a:prstGeom>
          <a:ln w="9525">
            <a:solidFill>
              <a:srgbClr val="3C404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908000" y="759600"/>
            <a:ext cx="792000" cy="151200"/>
          </a:xfrm>
          <a:prstGeom prst="rect">
            <a:avLst/>
          </a:prstGeom>
          <a:noFill/>
        </p:spPr>
        <p:txBody>
          <a:bodyPr wrap="square" lIns="14400" rIns="14400" tIns="3600" bIns="3600" anchor="ctr">
            <a:spAutoFit/>
          </a:bodyPr>
          <a:lstStyle/>
          <a:p>
            <a:pPr algn="l"/>
            <a:r>
              <a:rPr sz="560" b="0" i="1">
                <a:solidFill>
                  <a:srgbClr val="5A6480"/>
                </a:solidFill>
                <a:latin typeface="Arial"/>
              </a:rPr>
              <a:t>every candidate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922000" y="741600"/>
            <a:ext cx="0" cy="205200"/>
          </a:xfrm>
          <a:prstGeom prst="line">
            <a:avLst/>
          </a:prstGeom>
          <a:ln w="9525">
            <a:solidFill>
              <a:srgbClr val="3C404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148000" y="759600"/>
            <a:ext cx="756000" cy="151200"/>
          </a:xfrm>
          <a:prstGeom prst="rect">
            <a:avLst/>
          </a:prstGeom>
          <a:noFill/>
        </p:spPr>
        <p:txBody>
          <a:bodyPr wrap="square" lIns="14400" rIns="14400" tIns="3600" bIns="3600" anchor="ctr">
            <a:spAutoFit/>
          </a:bodyPr>
          <a:lstStyle/>
          <a:p>
            <a:pPr algn="r"/>
            <a:r>
              <a:rPr sz="560" b="0" i="1">
                <a:solidFill>
                  <a:srgbClr val="5A6480"/>
                </a:solidFill>
                <a:latin typeface="Arial"/>
              </a:rPr>
              <a:t>plant cost</a:t>
            </a:r>
          </a:p>
        </p:txBody>
      </p:sp>
      <p:pic>
        <p:nvPicPr>
          <p:cNvPr id="35" name="Picture 34" descr="_trim_surfac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7897" y="1404000"/>
            <a:ext cx="680204" cy="540000"/>
          </a:xfrm>
          <a:prstGeom prst="rect">
            <a:avLst/>
          </a:prstGeom>
        </p:spPr>
      </p:pic>
      <p:pic>
        <p:nvPicPr>
          <p:cNvPr id="36" name="Picture 35" descr="_trim_nanopartic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9675" y="1404000"/>
            <a:ext cx="784649" cy="540000"/>
          </a:xfrm>
          <a:prstGeom prst="rect">
            <a:avLst/>
          </a:prstGeom>
        </p:spPr>
      </p:pic>
      <p:pic>
        <p:nvPicPr>
          <p:cNvPr id="37" name="Picture 36" descr="extrudates_dis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58000" y="1332000"/>
            <a:ext cx="684000" cy="684000"/>
          </a:xfrm>
          <a:prstGeom prst="rect">
            <a:avLst/>
          </a:prstGeom>
        </p:spPr>
      </p:pic>
      <p:pic>
        <p:nvPicPr>
          <p:cNvPr id="38" name="Picture 37" descr="_trim_convert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48808" y="1155600"/>
            <a:ext cx="590382" cy="1026000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1616767" y="1486800"/>
            <a:ext cx="72000" cy="72000"/>
          </a:xfrm>
          <a:prstGeom prst="rect">
            <a:avLst/>
          </a:prstGeom>
          <a:noFill/>
          <a:ln w="7620">
            <a:solidFill>
              <a:srgbClr val="2B2E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2527200" y="1603800"/>
            <a:ext cx="72000" cy="72000"/>
          </a:xfrm>
          <a:prstGeom prst="rect">
            <a:avLst/>
          </a:prstGeom>
          <a:noFill/>
          <a:ln w="7620">
            <a:solidFill>
              <a:srgbClr val="2B2E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3778845" y="1755719"/>
            <a:ext cx="72000" cy="72000"/>
          </a:xfrm>
          <a:prstGeom prst="rect">
            <a:avLst/>
          </a:prstGeom>
          <a:noFill/>
          <a:ln w="7620">
            <a:solidFill>
              <a:srgbClr val="2B2E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5" name="Connector 44"/>
          <p:cNvCxnSpPr/>
          <p:nvPr/>
        </p:nvCxnSpPr>
        <p:spPr>
          <a:xfrm>
            <a:off x="4176000" y="1674000"/>
            <a:ext cx="864000" cy="0"/>
          </a:xfrm>
          <a:prstGeom prst="line">
            <a:avLst/>
          </a:prstGeom>
          <a:ln w="9525">
            <a:solidFill>
              <a:srgbClr val="3C404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194000" y="1404000"/>
            <a:ext cx="828000" cy="252000"/>
          </a:xfrm>
          <a:prstGeom prst="rect">
            <a:avLst/>
          </a:prstGeom>
          <a:noFill/>
        </p:spPr>
        <p:txBody>
          <a:bodyPr wrap="square" lIns="14400" rIns="14400" tIns="3600" bIns="3600" anchor="b">
            <a:spAutoFit/>
          </a:bodyPr>
          <a:lstStyle/>
          <a:p>
            <a:pPr algn="ctr"/>
            <a:r>
              <a:rPr sz="560" b="0" i="0">
                <a:solidFill>
                  <a:srgbClr val="1B1B1B"/>
                </a:solidFill>
                <a:latin typeface="Arial"/>
              </a:rPr>
              <a:t>flows, duties and</a:t>
            </a:r>
          </a:p>
          <a:p>
            <a:pPr algn="ctr"/>
            <a:r>
              <a:rPr sz="560" b="0" i="0">
                <a:solidFill>
                  <a:srgbClr val="1B1B1B"/>
                </a:solidFill>
                <a:latin typeface="Arial"/>
              </a:rPr>
              <a:t>catalyst inventory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94000" y="1702800"/>
            <a:ext cx="828000" cy="252000"/>
          </a:xfrm>
          <a:prstGeom prst="rect">
            <a:avLst/>
          </a:prstGeom>
          <a:noFill/>
        </p:spPr>
        <p:txBody>
          <a:bodyPr wrap="square" lIns="14400" rIns="14400" tIns="3600" bIns="3600" anchor="t">
            <a:spAutoFit/>
          </a:bodyPr>
          <a:lstStyle/>
          <a:p>
            <a:pPr algn="ctr"/>
            <a:r>
              <a:rPr sz="560" b="0" i="0">
                <a:solidFill>
                  <a:srgbClr val="1B1B1B"/>
                </a:solidFill>
                <a:latin typeface="Arial"/>
              </a:rPr>
              <a:t>T, P, separator</a:t>
            </a:r>
          </a:p>
          <a:p>
            <a:pPr algn="ctr"/>
            <a:r>
              <a:rPr sz="560" b="0" i="0">
                <a:solidFill>
                  <a:srgbClr val="1B1B1B"/>
                </a:solidFill>
                <a:latin typeface="Arial"/>
              </a:rPr>
              <a:t>and purge optimized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256000" y="1962000"/>
            <a:ext cx="972000" cy="0"/>
          </a:xfrm>
          <a:prstGeom prst="line">
            <a:avLst/>
          </a:prstGeom>
          <a:ln w="7620">
            <a:solidFill>
              <a:srgbClr val="2B2E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5256000" y="1350000"/>
            <a:ext cx="0" cy="612000"/>
          </a:xfrm>
          <a:prstGeom prst="line">
            <a:avLst/>
          </a:prstGeom>
          <a:ln w="7620">
            <a:solidFill>
              <a:srgbClr val="2B2E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5436000" y="1782000"/>
            <a:ext cx="216000" cy="180000"/>
          </a:xfrm>
          <a:prstGeom prst="rect">
            <a:avLst/>
          </a:prstGeom>
          <a:solidFill>
            <a:srgbClr val="7789B7"/>
          </a:solidFill>
          <a:ln w="4445">
            <a:solidFill>
              <a:srgbClr val="2B2E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5436000" y="1674000"/>
            <a:ext cx="216000" cy="108000"/>
          </a:xfrm>
          <a:prstGeom prst="rect">
            <a:avLst/>
          </a:prstGeom>
          <a:solidFill>
            <a:srgbClr val="89AA7B"/>
          </a:solidFill>
          <a:ln w="4445">
            <a:solidFill>
              <a:srgbClr val="2B2E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5436000" y="1602000"/>
            <a:ext cx="216000" cy="72000"/>
          </a:xfrm>
          <a:prstGeom prst="rect">
            <a:avLst/>
          </a:prstGeom>
          <a:solidFill>
            <a:srgbClr val="E3C16F"/>
          </a:solidFill>
          <a:ln w="4445">
            <a:solidFill>
              <a:srgbClr val="2B2E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5364000" y="1972800"/>
            <a:ext cx="360000" cy="115200"/>
          </a:xfrm>
          <a:prstGeom prst="rect">
            <a:avLst/>
          </a:prstGeom>
          <a:noFill/>
        </p:spPr>
        <p:txBody>
          <a:bodyPr wrap="square" lIns="14400" rIns="14400" tIns="3600" bIns="3600" anchor="ctr">
            <a:spAutoFit/>
          </a:bodyPr>
          <a:lstStyle/>
          <a:p>
            <a:pPr algn="ctr"/>
            <a:r>
              <a:rPr sz="500" b="0" i="0">
                <a:solidFill>
                  <a:srgbClr val="1B1B1B"/>
                </a:solidFill>
                <a:latin typeface="Arial"/>
              </a:rPr>
              <a:t>catalyst 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32000" y="1656000"/>
            <a:ext cx="216000" cy="306000"/>
          </a:xfrm>
          <a:prstGeom prst="rect">
            <a:avLst/>
          </a:prstGeom>
          <a:solidFill>
            <a:srgbClr val="7789B7"/>
          </a:solidFill>
          <a:ln w="4445">
            <a:solidFill>
              <a:srgbClr val="2B2E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5832000" y="1494000"/>
            <a:ext cx="216000" cy="162000"/>
          </a:xfrm>
          <a:prstGeom prst="rect">
            <a:avLst/>
          </a:prstGeom>
          <a:solidFill>
            <a:srgbClr val="89AA7B"/>
          </a:solidFill>
          <a:ln w="4445">
            <a:solidFill>
              <a:srgbClr val="2B2E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5832000" y="1393200"/>
            <a:ext cx="216000" cy="100800"/>
          </a:xfrm>
          <a:prstGeom prst="rect">
            <a:avLst/>
          </a:prstGeom>
          <a:solidFill>
            <a:srgbClr val="E3C16F"/>
          </a:solidFill>
          <a:ln w="4445">
            <a:solidFill>
              <a:srgbClr val="2B2E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5760000" y="1972800"/>
            <a:ext cx="360000" cy="115200"/>
          </a:xfrm>
          <a:prstGeom prst="rect">
            <a:avLst/>
          </a:prstGeom>
          <a:noFill/>
        </p:spPr>
        <p:txBody>
          <a:bodyPr wrap="square" lIns="14400" rIns="14400" tIns="3600" bIns="3600" anchor="ctr">
            <a:spAutoFit/>
          </a:bodyPr>
          <a:lstStyle/>
          <a:p>
            <a:pPr algn="ctr"/>
            <a:r>
              <a:rPr sz="500" b="0" i="0">
                <a:solidFill>
                  <a:srgbClr val="1B1B1B"/>
                </a:solidFill>
                <a:latin typeface="Arial"/>
              </a:rPr>
              <a:t>catalyst 2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88000" y="997200"/>
            <a:ext cx="720000" cy="1296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5080">
            <a:solidFill>
              <a:srgbClr val="C9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400" rIns="14400" tIns="3600" bIns="3600" wrap="square"/>
          <a:lstStyle/>
          <a:p>
            <a:pPr algn="ctr"/>
            <a:r>
              <a:rPr sz="600" b="0" i="0">
                <a:solidFill>
                  <a:srgbClr val="1B1B1B"/>
                </a:solidFill>
                <a:latin typeface="Arial"/>
              </a:rPr>
              <a:t>active site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260000" y="997200"/>
            <a:ext cx="864000" cy="1296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5080">
            <a:solidFill>
              <a:srgbClr val="C9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400" rIns="14400" tIns="3600" bIns="3600" wrap="square"/>
          <a:lstStyle/>
          <a:p>
            <a:pPr algn="ctr"/>
            <a:r>
              <a:rPr sz="600" b="0" i="0">
                <a:solidFill>
                  <a:srgbClr val="1B1B1B"/>
                </a:solidFill>
                <a:latin typeface="Arial"/>
              </a:rPr>
              <a:t>supported particle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304000" y="997200"/>
            <a:ext cx="792000" cy="1296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5080">
            <a:solidFill>
              <a:srgbClr val="C9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400" rIns="14400" tIns="3600" bIns="3600" wrap="square"/>
          <a:lstStyle/>
          <a:p>
            <a:pPr algn="ctr"/>
            <a:r>
              <a:rPr sz="600" b="0" i="0">
                <a:solidFill>
                  <a:srgbClr val="1B1B1B"/>
                </a:solidFill>
                <a:latin typeface="Arial"/>
              </a:rPr>
              <a:t>catalyst pellets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348000" y="997200"/>
            <a:ext cx="792000" cy="1296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5080">
            <a:solidFill>
              <a:srgbClr val="C9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400" rIns="14400" tIns="3600" bIns="3600" wrap="square"/>
          <a:lstStyle/>
          <a:p>
            <a:pPr algn="ctr"/>
            <a:r>
              <a:rPr sz="600" b="0" i="0">
                <a:solidFill>
                  <a:srgbClr val="1B1B1B"/>
                </a:solidFill>
                <a:latin typeface="Arial"/>
              </a:rPr>
              <a:t>multibed converter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284000" y="997200"/>
            <a:ext cx="684000" cy="1296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5080">
            <a:solidFill>
              <a:srgbClr val="C9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400" rIns="14400" tIns="3600" bIns="3600" wrap="square"/>
          <a:lstStyle/>
          <a:p>
            <a:pPr algn="ctr"/>
            <a:r>
              <a:rPr sz="600" b="0" i="0">
                <a:solidFill>
                  <a:srgbClr val="1B1B1B"/>
                </a:solidFill>
                <a:latin typeface="Arial"/>
              </a:rPr>
              <a:t>synthesis loop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400000" y="997200"/>
            <a:ext cx="720000" cy="1296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5080">
            <a:solidFill>
              <a:srgbClr val="C9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400" rIns="14400" tIns="3600" bIns="3600" wrap="square"/>
          <a:lstStyle/>
          <a:p>
            <a:pPr algn="ctr"/>
            <a:r>
              <a:rPr sz="600" b="0" i="0">
                <a:solidFill>
                  <a:srgbClr val="1B1B1B"/>
                </a:solidFill>
                <a:latin typeface="Arial"/>
              </a:rPr>
              <a:t>cost per tonne</a:t>
            </a:r>
          </a:p>
        </p:txBody>
      </p:sp>
      <p:cxnSp>
        <p:nvCxnSpPr>
          <p:cNvPr id="64" name="Connector 63"/>
          <p:cNvCxnSpPr/>
          <p:nvPr/>
        </p:nvCxnSpPr>
        <p:spPr>
          <a:xfrm flipV="1">
            <a:off x="540000" y="2214000"/>
            <a:ext cx="216000" cy="21600"/>
          </a:xfrm>
          <a:prstGeom prst="line">
            <a:avLst/>
          </a:prstGeom>
          <a:ln w="20320">
            <a:solidFill>
              <a:srgbClr val="3A3D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360000" y="2250000"/>
            <a:ext cx="576000" cy="115200"/>
          </a:xfrm>
          <a:prstGeom prst="rect">
            <a:avLst/>
          </a:prstGeom>
          <a:noFill/>
        </p:spPr>
        <p:txBody>
          <a:bodyPr wrap="square" lIns="14400" rIns="14400" tIns="3600" bIns="3600" anchor="ctr">
            <a:spAutoFit/>
          </a:bodyPr>
          <a:lstStyle/>
          <a:p>
            <a:pPr algn="ctr"/>
            <a:r>
              <a:rPr sz="600" b="1" i="0">
                <a:solidFill>
                  <a:srgbClr val="1B1B1B"/>
                </a:solidFill>
                <a:latin typeface="Arial"/>
              </a:rPr>
              <a:t>~1 nm</a:t>
            </a:r>
          </a:p>
        </p:txBody>
      </p:sp>
      <p:cxnSp>
        <p:nvCxnSpPr>
          <p:cNvPr id="66" name="Connector 65"/>
          <p:cNvCxnSpPr/>
          <p:nvPr/>
        </p:nvCxnSpPr>
        <p:spPr>
          <a:xfrm flipV="1">
            <a:off x="1584000" y="2214000"/>
            <a:ext cx="216000" cy="21600"/>
          </a:xfrm>
          <a:prstGeom prst="line">
            <a:avLst/>
          </a:prstGeom>
          <a:ln w="20320">
            <a:solidFill>
              <a:srgbClr val="3A3D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1404000" y="2250000"/>
            <a:ext cx="576000" cy="115200"/>
          </a:xfrm>
          <a:prstGeom prst="rect">
            <a:avLst/>
          </a:prstGeom>
          <a:noFill/>
        </p:spPr>
        <p:txBody>
          <a:bodyPr wrap="square" lIns="14400" rIns="14400" tIns="3600" bIns="3600" anchor="ctr">
            <a:spAutoFit/>
          </a:bodyPr>
          <a:lstStyle/>
          <a:p>
            <a:pPr algn="ctr"/>
            <a:r>
              <a:rPr sz="600" b="1" i="0">
                <a:solidFill>
                  <a:srgbClr val="1B1B1B"/>
                </a:solidFill>
                <a:latin typeface="Arial"/>
              </a:rPr>
              <a:t>~10 nm</a:t>
            </a:r>
          </a:p>
        </p:txBody>
      </p:sp>
      <p:cxnSp>
        <p:nvCxnSpPr>
          <p:cNvPr id="68" name="Connector 67"/>
          <p:cNvCxnSpPr/>
          <p:nvPr/>
        </p:nvCxnSpPr>
        <p:spPr>
          <a:xfrm flipV="1">
            <a:off x="2592000" y="2214000"/>
            <a:ext cx="216000" cy="21600"/>
          </a:xfrm>
          <a:prstGeom prst="line">
            <a:avLst/>
          </a:prstGeom>
          <a:ln w="20320">
            <a:solidFill>
              <a:srgbClr val="3A3D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2412000" y="2250000"/>
            <a:ext cx="576000" cy="115200"/>
          </a:xfrm>
          <a:prstGeom prst="rect">
            <a:avLst/>
          </a:prstGeom>
          <a:noFill/>
        </p:spPr>
        <p:txBody>
          <a:bodyPr wrap="square" lIns="14400" rIns="14400" tIns="3600" bIns="3600" anchor="ctr">
            <a:spAutoFit/>
          </a:bodyPr>
          <a:lstStyle/>
          <a:p>
            <a:pPr algn="ctr"/>
            <a:r>
              <a:rPr sz="600" b="1" i="0">
                <a:solidFill>
                  <a:srgbClr val="1B1B1B"/>
                </a:solidFill>
                <a:latin typeface="Arial"/>
              </a:rPr>
              <a:t>~5 mm</a:t>
            </a:r>
          </a:p>
        </p:txBody>
      </p:sp>
      <p:cxnSp>
        <p:nvCxnSpPr>
          <p:cNvPr id="70" name="Connector 69"/>
          <p:cNvCxnSpPr/>
          <p:nvPr/>
        </p:nvCxnSpPr>
        <p:spPr>
          <a:xfrm flipV="1">
            <a:off x="3636000" y="2214000"/>
            <a:ext cx="216000" cy="21600"/>
          </a:xfrm>
          <a:prstGeom prst="line">
            <a:avLst/>
          </a:prstGeom>
          <a:ln w="20320">
            <a:solidFill>
              <a:srgbClr val="3A3D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3456000" y="2250000"/>
            <a:ext cx="576000" cy="115200"/>
          </a:xfrm>
          <a:prstGeom prst="rect">
            <a:avLst/>
          </a:prstGeom>
          <a:noFill/>
        </p:spPr>
        <p:txBody>
          <a:bodyPr wrap="square" lIns="14400" rIns="14400" tIns="3600" bIns="3600" anchor="ctr">
            <a:spAutoFit/>
          </a:bodyPr>
          <a:lstStyle/>
          <a:p>
            <a:pPr algn="ctr"/>
            <a:r>
              <a:rPr sz="600" b="1" i="0">
                <a:solidFill>
                  <a:srgbClr val="1B1B1B"/>
                </a:solidFill>
                <a:latin typeface="Arial"/>
              </a:rPr>
              <a:t>~10 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328000" y="2250000"/>
            <a:ext cx="936000" cy="115200"/>
          </a:xfrm>
          <a:prstGeom prst="rect">
            <a:avLst/>
          </a:prstGeom>
          <a:noFill/>
        </p:spPr>
        <p:txBody>
          <a:bodyPr wrap="square" lIns="14400" rIns="14400" tIns="3600" bIns="3600" anchor="ctr">
            <a:spAutoFit/>
          </a:bodyPr>
          <a:lstStyle/>
          <a:p>
            <a:pPr algn="ctr"/>
            <a:r>
              <a:rPr sz="600" b="1" i="0">
                <a:solidFill>
                  <a:srgbClr val="1B1B1B"/>
                </a:solidFill>
                <a:latin typeface="Arial"/>
              </a:rPr>
              <a:t>USD or EUR t</a:t>
            </a:r>
            <a:r>
              <a:rPr baseline="30000" sz="600" b="1" i="0">
                <a:solidFill>
                  <a:srgbClr val="1B1B1B"/>
                </a:solidFill>
                <a:latin typeface="Arial"/>
              </a:rPr>
              <a:t>-1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44000" y="2415600"/>
            <a:ext cx="3096000" cy="144000"/>
          </a:xfrm>
          <a:prstGeom prst="roundRect">
            <a:avLst>
              <a:gd name="adj" fmla="val 30000"/>
            </a:avLst>
          </a:prstGeom>
          <a:solidFill>
            <a:srgbClr val="D5D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400" rIns="14400" tIns="3600" bIns="3600" wrap="square"/>
          <a:lstStyle/>
          <a:p>
            <a:pPr algn="ctr"/>
            <a:r>
              <a:rPr sz="580" b="0" i="0">
                <a:solidFill>
                  <a:srgbClr val="1B1B1B"/>
                </a:solidFill>
                <a:latin typeface="Arial"/>
              </a:rPr>
              <a:t>kinetics: descriptor turnover or measured rate law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312000" y="2415600"/>
            <a:ext cx="1764000" cy="144000"/>
          </a:xfrm>
          <a:prstGeom prst="roundRect">
            <a:avLst>
              <a:gd name="adj" fmla="val 30000"/>
            </a:avLst>
          </a:prstGeom>
          <a:solidFill>
            <a:srgbClr val="DCE6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400" rIns="14400" tIns="3600" bIns="3600" wrap="square"/>
          <a:lstStyle/>
          <a:p>
            <a:pPr algn="ctr"/>
            <a:r>
              <a:rPr sz="580" b="0" i="0">
                <a:solidFill>
                  <a:srgbClr val="1B1B1B"/>
                </a:solidFill>
                <a:latin typeface="Arial"/>
              </a:rPr>
              <a:t>process optimization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148000" y="2415600"/>
            <a:ext cx="1296000" cy="144000"/>
          </a:xfrm>
          <a:prstGeom prst="roundRect">
            <a:avLst>
              <a:gd name="adj" fmla="val 30000"/>
            </a:avLst>
          </a:prstGeom>
          <a:solidFill>
            <a:srgbClr val="EFE3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400" rIns="14400" tIns="3600" bIns="3600" wrap="square"/>
          <a:lstStyle/>
          <a:p>
            <a:pPr algn="ctr"/>
            <a:r>
              <a:rPr sz="580" b="0" i="0">
                <a:solidFill>
                  <a:srgbClr val="1B1B1B"/>
                </a:solidFill>
                <a:latin typeface="Arial"/>
              </a:rPr>
              <a:t>catalyst-dependent cost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