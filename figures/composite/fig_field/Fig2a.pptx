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6587490" cy="266382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1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5" name="TextBox 64"/>
          <p:cNvSpPr txBox="1"/>
          <p:nvPr/>
        </p:nvSpPr>
        <p:spPr>
          <a:xfrm>
            <a:off x="208870" y="1962345"/>
            <a:ext cx="576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00" b="1" i="0">
                <a:solidFill>
                  <a:srgbClr val="1B1B1B"/>
                </a:solidFill>
                <a:latin typeface="Arial" panose="020B0604020202020204"/>
              </a:rPr>
              <a:t>~1 nm</a:t>
            </a:r>
            <a:endParaRPr sz="6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86000" y="54000"/>
            <a:ext cx="3762000" cy="720000"/>
          </a:xfrm>
          <a:prstGeom prst="roundRect">
            <a:avLst>
              <a:gd name="adj" fmla="val 6000"/>
            </a:avLst>
          </a:prstGeom>
          <a:noFill/>
          <a:ln w="7620">
            <a:solidFill>
              <a:srgbClr val="8C929C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3E7F0"/>
                </a:soli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170" y="953770"/>
            <a:ext cx="6407785" cy="1497965"/>
          </a:xfrm>
          <a:prstGeom prst="roundRect">
            <a:avLst>
              <a:gd name="adj" fmla="val 4000"/>
            </a:avLst>
          </a:prstGeom>
          <a:noFill/>
          <a:ln w="7620">
            <a:solidFill>
              <a:srgbClr val="8C929C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4F5F7"/>
                </a:soli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Rounded Rectangle 1"/>
          <p:cNvSpPr/>
          <p:nvPr/>
        </p:nvSpPr>
        <p:spPr>
          <a:xfrm>
            <a:off x="90000" y="90000"/>
            <a:ext cx="1116000" cy="6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8C9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thumb_pap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600" y="169200"/>
            <a:ext cx="413050" cy="489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3200"/>
            <a:ext cx="648000" cy="1620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l"/>
            <a:r>
              <a:rPr sz="700" b="1" i="0">
                <a:solidFill>
                  <a:srgbClr val="1B1B1B"/>
                </a:solidFill>
                <a:latin typeface="Arial" panose="020B0604020202020204"/>
              </a:rPr>
              <a:t>Literature</a:t>
            </a:r>
            <a:endParaRPr sz="7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0000" y="306000"/>
            <a:ext cx="648000" cy="3780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l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papers and SI: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l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90 methanol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l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52 ammonia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40000" y="68400"/>
            <a:ext cx="432000" cy="151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l"/>
            <a:r>
              <a:rPr sz="700" b="1" i="0">
                <a:solidFill>
                  <a:srgbClr val="5A6480"/>
                </a:solidFill>
                <a:latin typeface="Arial" panose="020B0604020202020204"/>
              </a:rPr>
              <a:t>ACSA</a:t>
            </a:r>
            <a:endParaRPr sz="700" b="1" i="0">
              <a:solidFill>
                <a:srgbClr val="5A6480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602000" y="212400"/>
            <a:ext cx="1116000" cy="48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humb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800" y="226800"/>
            <a:ext cx="382679" cy="453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72835" y="234000"/>
            <a:ext cx="648000" cy="151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80" b="1" i="0">
                <a:solidFill>
                  <a:srgbClr val="1B1B1B"/>
                </a:solidFill>
                <a:latin typeface="Arial" panose="020B0604020202020204"/>
              </a:rPr>
              <a:t>Extract</a:t>
            </a:r>
            <a:endParaRPr sz="68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958230" y="399600"/>
            <a:ext cx="662400" cy="17526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ctr"/>
            <a:r>
              <a:rPr lang="en-US" sz="550" b="0" i="0">
                <a:solidFill>
                  <a:srgbClr val="1B1B1B"/>
                </a:solidFill>
                <a:latin typeface="Arial" panose="020B0604020202020204"/>
              </a:rPr>
              <a:t>Target v</a:t>
            </a:r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alue with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unit and page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160000" y="93600"/>
            <a:ext cx="558000" cy="100800"/>
          </a:xfrm>
          <a:prstGeom prst="roundRect">
            <a:avLst>
              <a:gd name="adj" fmla="val 30000"/>
            </a:avLst>
          </a:prstGeom>
          <a:solidFill>
            <a:srgbClr val="7789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480" b="0" i="0">
                <a:solidFill>
                  <a:srgbClr val="FFFFFF"/>
                </a:solidFill>
                <a:latin typeface="Arial" panose="020B0604020202020204"/>
              </a:rPr>
              <a:t>language model</a:t>
            </a:r>
            <a:endParaRPr sz="480" b="0" i="0">
              <a:solidFill>
                <a:srgbClr val="FFFFFF"/>
              </a:solidFill>
              <a:latin typeface="Arial" panose="020B0604020202020204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2598200" y="450000"/>
            <a:ext cx="184785" cy="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90000" y="212400"/>
            <a:ext cx="1116000" cy="48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thumb_selfcheck.png"/>
          <p:cNvPicPr>
            <a:picLocks noChangeAspect="1"/>
          </p:cNvPicPr>
          <p:nvPr/>
        </p:nvPicPr>
        <p:blipFill>
          <a:blip r:embed="rId3"/>
          <a:srcRect t="16938"/>
          <a:stretch>
            <a:fillRect/>
          </a:stretch>
        </p:blipFill>
        <p:spPr>
          <a:xfrm>
            <a:off x="2818800" y="303631"/>
            <a:ext cx="382679" cy="376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6400" y="234000"/>
            <a:ext cx="648000" cy="151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80" b="1" i="0">
                <a:solidFill>
                  <a:srgbClr val="1B1B1B"/>
                </a:solidFill>
                <a:latin typeface="Arial" panose="020B0604020202020204"/>
              </a:rPr>
              <a:t>Self-check</a:t>
            </a:r>
            <a:endParaRPr sz="68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76075" y="399600"/>
            <a:ext cx="662400" cy="2700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hand-built results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reproduced first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618000" y="93600"/>
            <a:ext cx="288000" cy="100800"/>
          </a:xfrm>
          <a:prstGeom prst="roundRect">
            <a:avLst>
              <a:gd name="adj" fmla="val 30000"/>
            </a:avLst>
          </a:prstGeom>
          <a:solidFill>
            <a:srgbClr val="5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480" b="0" i="0">
                <a:solidFill>
                  <a:srgbClr val="FFFFFF"/>
                </a:solidFill>
                <a:latin typeface="Arial" panose="020B0604020202020204"/>
              </a:rPr>
              <a:t>code</a:t>
            </a:r>
            <a:endParaRPr sz="480" b="0" i="0">
              <a:solidFill>
                <a:srgbClr val="FFFFFF"/>
              </a:solidFill>
              <a:latin typeface="Arial" panose="020B0604020202020204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3798265" y="450000"/>
            <a:ext cx="172720" cy="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978000" y="212400"/>
            <a:ext cx="1116000" cy="48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humb_b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800" y="226800"/>
            <a:ext cx="382679" cy="453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24400" y="234000"/>
            <a:ext cx="648000" cy="151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80" b="1" i="0">
                <a:solidFill>
                  <a:srgbClr val="1B1B1B"/>
                </a:solidFill>
                <a:latin typeface="Arial" panose="020B0604020202020204"/>
              </a:rPr>
              <a:t>Bound</a:t>
            </a:r>
            <a:endParaRPr sz="68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09795" y="399600"/>
            <a:ext cx="662400" cy="2700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full optimization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50" b="0" i="0">
                <a:solidFill>
                  <a:srgbClr val="1B1B1B"/>
                </a:solidFill>
                <a:latin typeface="Arial" panose="020B0604020202020204"/>
              </a:rPr>
              <a:t>only where needed</a:t>
            </a:r>
            <a:endParaRPr sz="55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06000" y="93600"/>
            <a:ext cx="288000" cy="100800"/>
          </a:xfrm>
          <a:prstGeom prst="roundRect">
            <a:avLst>
              <a:gd name="adj" fmla="val 30000"/>
            </a:avLst>
          </a:prstGeom>
          <a:solidFill>
            <a:srgbClr val="5E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480" b="0" i="0">
                <a:solidFill>
                  <a:srgbClr val="FFFFFF"/>
                </a:solidFill>
                <a:latin typeface="Arial" panose="020B0604020202020204"/>
              </a:rPr>
              <a:t>code</a:t>
            </a:r>
            <a:endParaRPr sz="480" b="0" i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258435" y="90170"/>
            <a:ext cx="1239520" cy="647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8C9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thumb_bu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305" y="169200"/>
            <a:ext cx="413050" cy="489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96000" y="157368"/>
            <a:ext cx="702000" cy="113665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l"/>
            <a:r>
              <a:rPr sz="700" b="1" i="0">
                <a:solidFill>
                  <a:srgbClr val="1B1B1B"/>
                </a:solidFill>
                <a:latin typeface="Arial" panose="020B0604020202020204"/>
              </a:rPr>
              <a:t>Leaderboards</a:t>
            </a:r>
            <a:r>
              <a:rPr lang="en-US" sz="700" b="1" i="0">
                <a:solidFill>
                  <a:srgbClr val="1B1B1B"/>
                </a:solidFill>
                <a:latin typeface="Arial" panose="020B0604020202020204"/>
              </a:rPr>
              <a:t/>
            </a:r>
            <a:r>
              <a:rPr sz="700" b="1" i="0">
                <a:solidFill>
                  <a:srgbClr val="1B1B1B"/>
                </a:solidFill>
                <a:latin typeface="Arial" panose="020B0604020202020204"/>
              </a:rPr>
              <a:t/>
            </a:r>
            <a:endParaRPr sz="7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60085" y="385445"/>
            <a:ext cx="864870" cy="1778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l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laboratory leader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l"/>
            <a:r>
              <a:rPr sz="560" b="1" i="0">
                <a:solidFill>
                  <a:srgbClr val="1B1B1B"/>
                </a:solidFill>
                <a:latin typeface="Arial" panose="020B0604020202020204"/>
              </a:rPr>
              <a:t>vs</a:t>
            </a:r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 plant-cost</a:t>
            </a:r>
            <a:r>
              <a:rPr lang="en-US" sz="560" b="0" i="0">
                <a:solidFill>
                  <a:srgbClr val="1B1B1B"/>
                </a:solidFill>
                <a:latin typeface="Arial" panose="020B0604020202020204"/>
              </a:rPr>
              <a:t> </a:t>
            </a:r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leader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1209600" y="414000"/>
            <a:ext cx="172800" cy="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2000" y="777600"/>
            <a:ext cx="0" cy="16920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922000" y="741600"/>
            <a:ext cx="0" cy="205200"/>
          </a:xfrm>
          <a:prstGeom prst="line">
            <a:avLst/>
          </a:prstGeom>
          <a:ln w="9525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176000" y="1674000"/>
            <a:ext cx="864000" cy="0"/>
          </a:xfrm>
          <a:prstGeom prst="line">
            <a:avLst/>
          </a:prstGeom>
          <a:ln w="25400">
            <a:solidFill>
              <a:srgbClr val="3C404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175760" y="1713230"/>
            <a:ext cx="828040" cy="198120"/>
          </a:xfrm>
          <a:prstGeom prst="rect">
            <a:avLst/>
          </a:prstGeom>
          <a:noFill/>
        </p:spPr>
        <p:txBody>
          <a:bodyPr wrap="square" lIns="14400" tIns="3600" rIns="14400" bIns="3600" anchor="b">
            <a:noAutofit/>
          </a:bodyPr>
          <a:lstStyle/>
          <a:p>
            <a:pPr algn="ctr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flows, duties and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catalyst inventory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75585" y="1447530"/>
            <a:ext cx="828000" cy="252000"/>
          </a:xfrm>
          <a:prstGeom prst="rect">
            <a:avLst/>
          </a:prstGeom>
          <a:noFill/>
        </p:spPr>
        <p:txBody>
          <a:bodyPr wrap="square" lIns="14400" tIns="3600" rIns="14400" bIns="3600" anchor="t">
            <a:spAutoFit/>
          </a:bodyPr>
          <a:lstStyle/>
          <a:p>
            <a:pPr algn="ctr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T, P, separator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  <a:p>
            <a:pPr algn="ctr"/>
            <a:r>
              <a:rPr sz="560" b="0" i="0">
                <a:solidFill>
                  <a:srgbClr val="1B1B1B"/>
                </a:solidFill>
                <a:latin typeface="Arial" panose="020B0604020202020204"/>
              </a:rPr>
              <a:t>and purge optimized</a:t>
            </a:r>
            <a:endParaRPr sz="560" b="0" i="0">
              <a:solidFill>
                <a:srgbClr val="1B1B1B"/>
              </a:solidFill>
              <a:latin typeface="Arial" panose="020B0604020202020204"/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5256000" y="1962000"/>
            <a:ext cx="972000" cy="0"/>
          </a:xfrm>
          <a:prstGeom prst="line">
            <a:avLst/>
          </a:prstGeom>
          <a:ln w="7620">
            <a:solidFill>
              <a:srgbClr val="2B2E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256000" y="1350000"/>
            <a:ext cx="0" cy="612000"/>
          </a:xfrm>
          <a:prstGeom prst="line">
            <a:avLst/>
          </a:prstGeom>
          <a:ln w="7620">
            <a:solidFill>
              <a:srgbClr val="2B2E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436000" y="1782000"/>
            <a:ext cx="216000" cy="180000"/>
          </a:xfrm>
          <a:prstGeom prst="rect">
            <a:avLst/>
          </a:prstGeom>
          <a:solidFill>
            <a:srgbClr val="7789B7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436000" y="1674000"/>
            <a:ext cx="216000" cy="108000"/>
          </a:xfrm>
          <a:prstGeom prst="rect">
            <a:avLst/>
          </a:prstGeom>
          <a:solidFill>
            <a:srgbClr val="89AA7B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436000" y="1602000"/>
            <a:ext cx="216000" cy="72000"/>
          </a:xfrm>
          <a:prstGeom prst="rect">
            <a:avLst/>
          </a:prstGeom>
          <a:solidFill>
            <a:srgbClr val="E3C16F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364000" y="1972800"/>
            <a:ext cx="360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500" b="0" i="0">
                <a:solidFill>
                  <a:srgbClr val="1B1B1B"/>
                </a:solidFill>
                <a:latin typeface="Arial" panose="020B0604020202020204"/>
              </a:rPr>
              <a:t>catalyst 1</a:t>
            </a:r>
            <a:endParaRPr sz="5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32000" y="1656000"/>
            <a:ext cx="216000" cy="306000"/>
          </a:xfrm>
          <a:prstGeom prst="rect">
            <a:avLst/>
          </a:prstGeom>
          <a:solidFill>
            <a:srgbClr val="7789B7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32000" y="1494000"/>
            <a:ext cx="216000" cy="162000"/>
          </a:xfrm>
          <a:prstGeom prst="rect">
            <a:avLst/>
          </a:prstGeom>
          <a:solidFill>
            <a:srgbClr val="89AA7B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832000" y="1393200"/>
            <a:ext cx="216000" cy="100800"/>
          </a:xfrm>
          <a:prstGeom prst="rect">
            <a:avLst/>
          </a:prstGeom>
          <a:solidFill>
            <a:srgbClr val="E3C16F"/>
          </a:solidFill>
          <a:ln w="4445">
            <a:solidFill>
              <a:srgbClr val="2B2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60000" y="1972800"/>
            <a:ext cx="360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500" b="0" i="0">
                <a:solidFill>
                  <a:srgbClr val="1B1B1B"/>
                </a:solidFill>
                <a:latin typeface="Arial" panose="020B0604020202020204"/>
              </a:rPr>
              <a:t>catalyst 2</a:t>
            </a:r>
            <a:endParaRPr sz="5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88000" y="997200"/>
            <a:ext cx="720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active site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1260000" y="997200"/>
            <a:ext cx="864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supported particle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304000" y="997200"/>
            <a:ext cx="792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catalyst pellets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3348000" y="997200"/>
            <a:ext cx="792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multibed converter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284000" y="997200"/>
            <a:ext cx="684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synthesis loop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00000" y="997200"/>
            <a:ext cx="720000" cy="12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080">
            <a:solidFill>
              <a:srgbClr val="C9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600" b="0" i="0">
                <a:solidFill>
                  <a:srgbClr val="1B1B1B"/>
                </a:solidFill>
                <a:latin typeface="Arial" panose="020B0604020202020204"/>
              </a:rPr>
              <a:t>cost per tonne</a:t>
            </a:r>
            <a:endParaRPr sz="600" b="0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332245" y="1954725"/>
            <a:ext cx="576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00" b="1" i="0">
                <a:solidFill>
                  <a:srgbClr val="1B1B1B"/>
                </a:solidFill>
                <a:latin typeface="Arial" panose="020B0604020202020204"/>
              </a:rPr>
              <a:t>~10 nm</a:t>
            </a:r>
            <a:endParaRPr sz="6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284365" y="1955360"/>
            <a:ext cx="576000" cy="115200"/>
          </a:xfrm>
          <a:prstGeom prst="rect">
            <a:avLst/>
          </a:prstGeom>
          <a:noFill/>
        </p:spPr>
        <p:txBody>
          <a:bodyPr wrap="square" lIns="14400" tIns="3600" rIns="14400" bIns="3600" anchor="ctr">
            <a:spAutoFit/>
          </a:bodyPr>
          <a:lstStyle/>
          <a:p>
            <a:pPr algn="ctr"/>
            <a:r>
              <a:rPr sz="600" b="1" i="0">
                <a:solidFill>
                  <a:srgbClr val="1B1B1B"/>
                </a:solidFill>
                <a:latin typeface="Arial" panose="020B0604020202020204"/>
              </a:rPr>
              <a:t>~5 mm</a:t>
            </a:r>
            <a:endParaRPr sz="6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43560" y="2196465"/>
            <a:ext cx="2275205" cy="149225"/>
          </a:xfrm>
          <a:prstGeom prst="roundRect">
            <a:avLst>
              <a:gd name="adj" fmla="val 30000"/>
            </a:avLst>
          </a:prstGeom>
          <a:solidFill>
            <a:srgbClr val="D5D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800" b="1" i="0">
                <a:solidFill>
                  <a:srgbClr val="1B1B1B"/>
                </a:solidFill>
                <a:latin typeface="Arial" panose="020B0604020202020204"/>
              </a:rPr>
              <a:t>kinetics: descriptor turnover or rate law</a:t>
            </a:r>
            <a:endParaRPr sz="8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3042285" y="2196465"/>
            <a:ext cx="1376680" cy="149225"/>
          </a:xfrm>
          <a:prstGeom prst="roundRect">
            <a:avLst>
              <a:gd name="adj" fmla="val 30000"/>
            </a:avLst>
          </a:prstGeom>
          <a:solidFill>
            <a:srgbClr val="DCE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800" b="1" i="0">
                <a:solidFill>
                  <a:srgbClr val="1B1B1B"/>
                </a:solidFill>
                <a:latin typeface="Arial" panose="020B0604020202020204"/>
              </a:rPr>
              <a:t>process optimization</a:t>
            </a:r>
            <a:endParaRPr sz="800" b="1" i="0">
              <a:solidFill>
                <a:srgbClr val="1B1B1B"/>
              </a:solidFill>
              <a:latin typeface="Arial" panose="020B0604020202020204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5148000" y="2177475"/>
            <a:ext cx="1296000" cy="144000"/>
          </a:xfrm>
          <a:prstGeom prst="roundRect">
            <a:avLst>
              <a:gd name="adj" fmla="val 30000"/>
            </a:avLst>
          </a:prstGeom>
          <a:solidFill>
            <a:srgbClr val="EFE3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" tIns="3600" rIns="14400" bIns="3600" rtlCol="0" anchor="ctr"/>
          <a:lstStyle/>
          <a:p>
            <a:pPr algn="ctr"/>
            <a:r>
              <a:rPr sz="800" b="1" i="0">
                <a:solidFill>
                  <a:srgbClr val="1B1B1B"/>
                </a:solidFill>
                <a:latin typeface="Arial" panose="020B0604020202020204"/>
              </a:rPr>
              <a:t>catalyst-dependent cost</a:t>
            </a:r>
            <a:endParaRPr sz="800" b="1" i="0">
              <a:solidFill>
                <a:srgbClr val="1B1B1B"/>
              </a:solidFill>
              <a:latin typeface="Arial" panose="020B0604020202020204"/>
            </a:endParaRPr>
          </a:p>
        </p:txBody>
      </p:sp>
      <p:grpSp>
        <p:nvGrpSpPr>
          <p:cNvPr id="84" name="组合 83"/>
          <p:cNvGrpSpPr/>
          <p:nvPr/>
        </p:nvGrpSpPr>
        <p:grpSpPr>
          <a:xfrm>
            <a:off x="360045" y="1134110"/>
            <a:ext cx="3646805" cy="932640"/>
            <a:chOff x="567" y="1774"/>
            <a:chExt cx="5743" cy="1469"/>
          </a:xfrm>
        </p:grpSpPr>
        <p:pic>
          <p:nvPicPr>
            <p:cNvPr id="38" name="Picture 37" descr="_trim_converter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8" y="1774"/>
              <a:ext cx="872" cy="1445"/>
            </a:xfrm>
            <a:prstGeom prst="rect">
              <a:avLst/>
            </a:prstGeom>
          </p:spPr>
        </p:pic>
        <p:sp>
          <p:nvSpPr>
            <p:cNvPr id="78" name="Freeform 39"/>
            <p:cNvSpPr/>
            <p:nvPr/>
          </p:nvSpPr>
          <p:spPr>
            <a:xfrm>
              <a:off x="4621" y="2261"/>
              <a:ext cx="1047" cy="680"/>
            </a:xfrm>
            <a:custGeom>
              <a:avLst/>
              <a:gdLst/>
              <a:ahLst/>
              <a:cxnLst/>
              <a:rect l="l" t="t" r="r" b="b"/>
              <a:pathLst>
                <a:path w="664665" h="432000">
                  <a:moveTo>
                    <a:pt x="0" y="0"/>
                  </a:moveTo>
                  <a:lnTo>
                    <a:pt x="664665" y="28800"/>
                  </a:lnTo>
                  <a:lnTo>
                    <a:pt x="664665" y="100800"/>
                  </a:lnTo>
                  <a:lnTo>
                    <a:pt x="0" y="432000"/>
                  </a:lnTo>
                  <a:close/>
                </a:path>
              </a:pathLst>
            </a:custGeom>
            <a:solidFill>
              <a:srgbClr val="7789B7">
                <a:alpha val="10000"/>
              </a:srgbClr>
            </a:solidFill>
            <a:ln w="444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7" name="Picture 36" descr="extrudates_disc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14" y="2041"/>
              <a:ext cx="1077" cy="1077"/>
            </a:xfrm>
            <a:prstGeom prst="rect">
              <a:avLst/>
            </a:prstGeom>
          </p:spPr>
        </p:pic>
        <p:sp>
          <p:nvSpPr>
            <p:cNvPr id="76" name="Freeform 39"/>
            <p:cNvSpPr/>
            <p:nvPr/>
          </p:nvSpPr>
          <p:spPr>
            <a:xfrm>
              <a:off x="2835" y="2296"/>
              <a:ext cx="1047" cy="680"/>
            </a:xfrm>
            <a:custGeom>
              <a:avLst/>
              <a:gdLst/>
              <a:ahLst/>
              <a:cxnLst/>
              <a:rect l="l" t="t" r="r" b="b"/>
              <a:pathLst>
                <a:path w="664665" h="432000">
                  <a:moveTo>
                    <a:pt x="0" y="0"/>
                  </a:moveTo>
                  <a:lnTo>
                    <a:pt x="664665" y="28800"/>
                  </a:lnTo>
                  <a:lnTo>
                    <a:pt x="664665" y="100800"/>
                  </a:lnTo>
                  <a:lnTo>
                    <a:pt x="0" y="432000"/>
                  </a:lnTo>
                  <a:close/>
                </a:path>
              </a:pathLst>
            </a:custGeom>
            <a:solidFill>
              <a:srgbClr val="7789B7">
                <a:alpha val="10000"/>
              </a:srgbClr>
            </a:solidFill>
            <a:ln w="444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icture 35" descr="_trim_nanoparticl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047" y="2211"/>
              <a:ext cx="1236" cy="850"/>
            </a:xfrm>
            <a:prstGeom prst="rect">
              <a:avLst/>
            </a:prstGeom>
          </p:spPr>
        </p:pic>
        <p:sp>
          <p:nvSpPr>
            <p:cNvPr id="39" name="Rectangle 38"/>
            <p:cNvSpPr/>
            <p:nvPr/>
          </p:nvSpPr>
          <p:spPr>
            <a:xfrm>
              <a:off x="2546" y="2341"/>
              <a:ext cx="113" cy="113"/>
            </a:xfrm>
            <a:prstGeom prst="rect">
              <a:avLst/>
            </a:prstGeom>
            <a:noFill/>
            <a:ln w="7620">
              <a:solidFill>
                <a:srgbClr val="2B2E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Rectangle 42"/>
            <p:cNvSpPr/>
            <p:nvPr/>
          </p:nvSpPr>
          <p:spPr>
            <a:xfrm>
              <a:off x="5668" y="2296"/>
              <a:ext cx="113" cy="113"/>
            </a:xfrm>
            <a:prstGeom prst="rect">
              <a:avLst/>
            </a:prstGeom>
            <a:noFill/>
            <a:ln w="7620">
              <a:solidFill>
                <a:srgbClr val="2B2E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64" name="Connector 63"/>
            <p:cNvCxnSpPr/>
            <p:nvPr/>
          </p:nvCxnSpPr>
          <p:spPr>
            <a:xfrm>
              <a:off x="1009" y="3161"/>
              <a:ext cx="425" cy="0"/>
            </a:xfrm>
            <a:prstGeom prst="line">
              <a:avLst/>
            </a:prstGeom>
            <a:ln w="20320">
              <a:solidFill>
                <a:srgbClr val="3A3D4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4694" y="3061"/>
              <a:ext cx="907" cy="181"/>
            </a:xfrm>
            <a:prstGeom prst="rect">
              <a:avLst/>
            </a:prstGeom>
            <a:noFill/>
          </p:spPr>
          <p:txBody>
            <a:bodyPr wrap="square" lIns="14400" tIns="3600" rIns="14400" bIns="3600" anchor="ctr">
              <a:spAutoFit/>
            </a:bodyPr>
            <a:lstStyle/>
            <a:p>
              <a:pPr algn="ctr"/>
              <a:r>
                <a:rPr sz="600" b="1" i="0">
                  <a:solidFill>
                    <a:srgbClr val="1B1B1B"/>
                  </a:solidFill>
                  <a:latin typeface="Arial" panose="020B0604020202020204"/>
                </a:rPr>
                <a:t>~10 m</a:t>
              </a:r>
              <a:endParaRPr sz="600" b="1" i="0">
                <a:solidFill>
                  <a:srgbClr val="1B1B1B"/>
                </a:solidFill>
                <a:latin typeface="Arial" panose="020B0604020202020204"/>
              </a:endParaRPr>
            </a:p>
          </p:txBody>
        </p:sp>
        <p:sp>
          <p:nvSpPr>
            <p:cNvPr id="40" name="Freeform 39"/>
            <p:cNvSpPr/>
            <p:nvPr/>
          </p:nvSpPr>
          <p:spPr>
            <a:xfrm>
              <a:off x="1499" y="2296"/>
              <a:ext cx="1047" cy="680"/>
            </a:xfrm>
            <a:custGeom>
              <a:avLst/>
              <a:gdLst/>
              <a:ahLst/>
              <a:cxnLst/>
              <a:rect l="l" t="t" r="r" b="b"/>
              <a:pathLst>
                <a:path w="664665" h="432000">
                  <a:moveTo>
                    <a:pt x="0" y="0"/>
                  </a:moveTo>
                  <a:lnTo>
                    <a:pt x="664665" y="28800"/>
                  </a:lnTo>
                  <a:lnTo>
                    <a:pt x="664665" y="100800"/>
                  </a:lnTo>
                  <a:lnTo>
                    <a:pt x="0" y="432000"/>
                  </a:lnTo>
                  <a:close/>
                </a:path>
              </a:pathLst>
            </a:custGeom>
            <a:solidFill>
              <a:srgbClr val="7789B7">
                <a:alpha val="10000"/>
              </a:srgbClr>
            </a:solidFill>
            <a:ln w="444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38"/>
            <p:cNvSpPr/>
            <p:nvPr/>
          </p:nvSpPr>
          <p:spPr>
            <a:xfrm>
              <a:off x="3882" y="2341"/>
              <a:ext cx="113" cy="113"/>
            </a:xfrm>
            <a:prstGeom prst="rect">
              <a:avLst/>
            </a:prstGeom>
            <a:noFill/>
            <a:ln w="7620">
              <a:solidFill>
                <a:srgbClr val="2B2E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81" name="Connector 63"/>
            <p:cNvCxnSpPr/>
            <p:nvPr/>
          </p:nvCxnSpPr>
          <p:spPr>
            <a:xfrm>
              <a:off x="2812" y="3161"/>
              <a:ext cx="425" cy="0"/>
            </a:xfrm>
            <a:prstGeom prst="line">
              <a:avLst/>
            </a:prstGeom>
            <a:ln w="20320">
              <a:solidFill>
                <a:srgbClr val="3A3D4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63"/>
            <p:cNvCxnSpPr/>
            <p:nvPr/>
          </p:nvCxnSpPr>
          <p:spPr>
            <a:xfrm>
              <a:off x="4269" y="3161"/>
              <a:ext cx="425" cy="0"/>
            </a:xfrm>
            <a:prstGeom prst="line">
              <a:avLst/>
            </a:prstGeom>
            <a:ln w="20320">
              <a:solidFill>
                <a:srgbClr val="3A3D4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63"/>
            <p:cNvCxnSpPr/>
            <p:nvPr/>
          </p:nvCxnSpPr>
          <p:spPr>
            <a:xfrm>
              <a:off x="5356" y="3161"/>
              <a:ext cx="425" cy="0"/>
            </a:xfrm>
            <a:prstGeom prst="line">
              <a:avLst/>
            </a:prstGeom>
            <a:ln w="20320">
              <a:solidFill>
                <a:srgbClr val="3A3D4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Picture 34" descr="_trim_surfac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7" y="2084"/>
              <a:ext cx="1178" cy="103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526</Words>
  <Application>WPS 演示</Application>
  <PresentationFormat>On-screen Show (4:3)</PresentationFormat>
  <Paragraphs>70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阿巴阿巴</cp:lastModifiedBy>
  <cp:revision>3</cp:revision>
  <dcterms:created xsi:type="dcterms:W3CDTF">2013-01-27T09:14:00Z</dcterms:created>
  <dcterms:modified xsi:type="dcterms:W3CDTF">2026-10-22T06:12:23Z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695D56B90C84426CB7CD8964DA757189_12</vt:lpwstr>
  </property>
  <property fmtid="{D5CDD505-2E9C-101B-9397-08002B2CF9AE}" pid="3" name="KSOProductBuildVer">
    <vt:lpwstr>2052-12.1.0.28802</vt:lpwstr>
  </property>
</Properties>
</file>